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75" r:id="rId4"/>
    <p:sldId id="274" r:id="rId5"/>
    <p:sldId id="266" r:id="rId6"/>
    <p:sldId id="267" r:id="rId7"/>
    <p:sldId id="268" r:id="rId8"/>
    <p:sldId id="270" r:id="rId9"/>
    <p:sldId id="272" r:id="rId10"/>
    <p:sldId id="273" r:id="rId11"/>
    <p:sldId id="265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43"/>
    <p:restoredTop sz="91701"/>
  </p:normalViewPr>
  <p:slideViewPr>
    <p:cSldViewPr snapToGrid="0">
      <p:cViewPr>
        <p:scale>
          <a:sx n="75" d="100"/>
          <a:sy n="75" d="100"/>
        </p:scale>
        <p:origin x="155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incidenti stradali causano 1.35 milioni di morti all'anno secondo l'OMS, con il 94% dovuto a errore umano. I costi socio-economici ammontano al 3% del PIL globale. I sistemi ADAS e ADS rappresentano una risposta tecnologica concreta per affrontare questa emergenza</a:t>
            </a:r>
          </a:p>
        </p:txBody>
      </p:sp>
    </p:spTree>
    <p:extLst>
      <p:ext uri="{BB962C8B-B14F-4D97-AF65-F5344CB8AC3E}">
        <p14:creationId xmlns:p14="http://schemas.microsoft.com/office/powerpoint/2010/main" val="2342333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ADAS sono sistemi di assistenza che supportano il conducente in compiti specifici come frenata d'emergenza o mantenimento di corsia, corrispondendo ai livelli SAE 1-2 dove il controllo finale resta all'umano. Gli ADS invece rappresentano la vera guida autonoma con livelli SAE dal 3 al 5, dove il veicolo può assumere il controllo completo delle decisioni di guida in contesti definiti o illimitati</a:t>
            </a:r>
          </a:p>
        </p:txBody>
      </p:sp>
    </p:spTree>
    <p:extLst>
      <p:ext uri="{BB962C8B-B14F-4D97-AF65-F5344CB8AC3E}">
        <p14:creationId xmlns:p14="http://schemas.microsoft.com/office/powerpoint/2010/main" val="354694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Testare questi sistemi su strada presenta limiti insormontabili: costi enormi, impossibilità di riprodurre scenari rari controllati, rischi per la sicurezza, e soprattutto uno spazio di scenari praticamente infinito che richiederebbe miliardi di chilometri. La simulazione avanzata rappresenta la soluzione: CARLA offre realismo urbano e supporto per standard industriali, mentre </a:t>
            </a:r>
            <a:r>
              <a:rPr lang="it-IT" dirty="0" err="1"/>
              <a:t>BeamNG</a:t>
            </a:r>
            <a:r>
              <a:rPr lang="it-IT" dirty="0"/>
              <a:t> eccelle nella fisica veicolare e nelle collisioni. Questa combinazione permette testing sicuro, controllato, scalabile e completamente ripetibile.</a:t>
            </a:r>
          </a:p>
        </p:txBody>
      </p:sp>
    </p:spTree>
    <p:extLst>
      <p:ext uri="{BB962C8B-B14F-4D97-AF65-F5344CB8AC3E}">
        <p14:creationId xmlns:p14="http://schemas.microsoft.com/office/powerpoint/2010/main" val="171895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431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valutare la qualità degli scenari abbiamo definito tre metriche complementari. L'</a:t>
            </a:r>
            <a:r>
              <a:rPr lang="it-IT" dirty="0" err="1"/>
              <a:t>Execution</a:t>
            </a:r>
            <a:r>
              <a:rPr lang="it-IT" dirty="0"/>
              <a:t> Time misura l'efficienza computazionale, ovvero quanto tempo richiede ogni test. Il </a:t>
            </a:r>
            <a:r>
              <a:rPr lang="it-IT" dirty="0" err="1"/>
              <a:t>Criticality</a:t>
            </a:r>
            <a:r>
              <a:rPr lang="it-IT" dirty="0"/>
              <a:t> Score quantifica la pericolosità dello scenario attraverso il conteggio di eventi critici come collisioni e violazioni del traffico. Infine, il </a:t>
            </a:r>
            <a:r>
              <a:rPr lang="it-IT" dirty="0" err="1"/>
              <a:t>Diversity</a:t>
            </a:r>
            <a:r>
              <a:rPr lang="it-IT" dirty="0"/>
              <a:t> Score valuta quanto uno scenario sia dissimile dagli altri già testati, garantendo una copertura rappresentativa. </a:t>
            </a:r>
            <a:r>
              <a:rPr lang="it-IT"/>
              <a:t>L'obiettivo è massimizzare l'informazione estratta minimizzando test ridondanti.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9596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D1ED-E001-53F5-FEE7-78D80312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BC982D8-0046-6146-6B04-EBF2446BA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586AABE-C561-6E00-9F4F-2586D9B19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contributo della tesi si sviluppa su due piani. Sul piano metodologico, abbiamo formalizzato per la prima volta una pipeline completa di conversione da </a:t>
            </a:r>
            <a:r>
              <a:rPr lang="it-IT" dirty="0" err="1"/>
              <a:t>OpenSCENARIO</a:t>
            </a:r>
            <a:r>
              <a:rPr lang="it-IT" dirty="0"/>
              <a:t> verso </a:t>
            </a:r>
            <a:r>
              <a:rPr lang="it-IT" dirty="0" err="1"/>
              <a:t>BeamNG</a:t>
            </a:r>
            <a:r>
              <a:rPr lang="it-IT" dirty="0"/>
              <a:t>, preservando la semantica degli scenari originali. L'architettura modulare permette facilmente l'estensione ad altri simulatori. Sul piano applicativo, il framework automatizza l'intero ciclo di vita degli scenari di test: dalla generazione all'esecuzione fino alla valutazione quantitativa. I dati strutturati prodotti costituiscono dataset sintetici utilizzabili per tecniche di machine learning nella selezione dei test, allineandosi a metodologie recenti come SDC-</a:t>
            </a:r>
            <a:r>
              <a:rPr lang="it-IT" dirty="0" err="1"/>
              <a:t>Scissor</a:t>
            </a:r>
            <a:r>
              <a:rPr lang="it-IT" dirty="0"/>
              <a:t> e </a:t>
            </a:r>
            <a:r>
              <a:rPr lang="it-IT" dirty="0" err="1"/>
              <a:t>AsFault</a:t>
            </a:r>
            <a:r>
              <a:rPr lang="it-IT" dirty="0"/>
              <a:t>. Il risultato finale è una significativa riduzione dei costi computazionali concentrando le risorse sugli scenari più informativi.</a:t>
            </a:r>
          </a:p>
        </p:txBody>
      </p:sp>
    </p:spTree>
    <p:extLst>
      <p:ext uri="{BB962C8B-B14F-4D97-AF65-F5344CB8AC3E}">
        <p14:creationId xmlns:p14="http://schemas.microsoft.com/office/powerpoint/2010/main" val="3768875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4E210-55AB-FA41-8CED-976DB997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7633280-C318-6719-8301-6442A0979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744F29-C12E-96A4-E241-660F520E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Riconosciamo tre principali limitazioni del lavoro attuale. Primo, la conversione copre un subset pragmatico dello standard </a:t>
            </a:r>
            <a:r>
              <a:rPr lang="it-IT" dirty="0" err="1"/>
              <a:t>OpenSCENARIO</a:t>
            </a:r>
            <a:r>
              <a:rPr lang="it-IT" dirty="0"/>
              <a:t>, focalizzandosi sugli elementi più utilizzati. Secondo, il </a:t>
            </a:r>
            <a:r>
              <a:rPr lang="it-IT" dirty="0" err="1"/>
              <a:t>Diversity</a:t>
            </a:r>
            <a:r>
              <a:rPr lang="it-IT" dirty="0"/>
              <a:t> Score è stato progettato e formalizzato ma richiede completamento implementativo. Terzo, la validazione sperimentale si è concentrata principalmente su CARLA. Gli sviluppi futuri includono l'integrazione completa di algoritmi di machine learning per la selezione predittiva degli scenari, l'estensione ad altri simulatori come LGSVL e </a:t>
            </a:r>
            <a:r>
              <a:rPr lang="it-IT" dirty="0" err="1"/>
              <a:t>AirSim</a:t>
            </a:r>
            <a:r>
              <a:rPr lang="it-IT" dirty="0"/>
              <a:t>, e soprattutto l'evoluzione verso framework certificabili secondo standard automotive come ISO 26262, aprendo la strada all'adozione industriale.</a:t>
            </a:r>
          </a:p>
        </p:txBody>
      </p:sp>
    </p:spTree>
    <p:extLst>
      <p:ext uri="{BB962C8B-B14F-4D97-AF65-F5344CB8AC3E}">
        <p14:creationId xmlns:p14="http://schemas.microsoft.com/office/powerpoint/2010/main" val="65038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Inserisci in questa slide riassuntiva gli screenshot delle parti salienti della tua presentazione. In questo modo, chi ti ascolta avrà una panoramica completa del tuo lavoro di tesi.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mailto:fpecorelli@unisa.it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mailto:fpecorelli@unisa.it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"/>
          <p:cNvSpPr txBox="1">
            <a:spLocks noGrp="1"/>
          </p:cNvSpPr>
          <p:nvPr>
            <p:ph type="body" sz="quarter" idx="2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2" name="Titolo Testo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Titolo Testo</a:t>
            </a:r>
          </a:p>
        </p:txBody>
      </p:sp>
      <p:sp>
        <p:nvSpPr>
          <p:cNvPr id="1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</p:spPr>
        <p:txBody>
          <a:bodyPr numCol="1" spcCol="38100" anchor="b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" name="Rettangolo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3" name="Rettangolo"/>
          <p:cNvSpPr/>
          <p:nvPr/>
        </p:nvSpPr>
        <p:spPr>
          <a:xfrm>
            <a:off x="-6928" y="1888"/>
            <a:ext cx="13018657" cy="4876805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4" name="image2.png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fpecorelli@unisa.it…"/>
          <p:cNvSpPr txBox="1"/>
          <p:nvPr/>
        </p:nvSpPr>
        <p:spPr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  <a:uFill>
                  <a:solidFill>
                    <a:srgbClr val="0432FF"/>
                  </a:solidFill>
                </a:uFill>
              </a:defRPr>
            </a:pPr>
            <a:r>
              <a:rPr>
                <a:hlinkClick r:id="rId4"/>
              </a:rPr>
              <a:t>fpecorelli@unisa.it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https://fabiano-pecorelli.github.io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@FabianoPecorel1</a:t>
            </a:r>
          </a:p>
        </p:txBody>
      </p:sp>
      <p:sp>
        <p:nvSpPr>
          <p:cNvPr id="26" name="Forma"/>
          <p:cNvSpPr/>
          <p:nvPr/>
        </p:nvSpPr>
        <p:spPr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" name="Forma"/>
          <p:cNvSpPr/>
          <p:nvPr/>
        </p:nvSpPr>
        <p:spPr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8" name="image3.png" descr="image3.png"/>
          <p:cNvPicPr>
            <a:picLocks noChangeAspect="1"/>
          </p:cNvPicPr>
          <p:nvPr/>
        </p:nvPicPr>
        <p:blipFill>
          <a:blip r:embed="rId5">
            <a:alphaModFix amt="98000"/>
          </a:blip>
          <a:stretch>
            <a:fillRect/>
          </a:stretch>
        </p:blipFill>
        <p:spPr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Conference name…"/>
          <p:cNvSpPr txBox="1"/>
          <p:nvPr/>
        </p:nvSpPr>
        <p:spPr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/>
            <a:r>
              <a:t>Conference name</a:t>
            </a:r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Venue, year</a:t>
            </a:r>
          </a:p>
        </p:txBody>
      </p:sp>
      <p:sp>
        <p:nvSpPr>
          <p:cNvPr id="30" name="Introduction &amp; Background"/>
          <p:cNvSpPr txBox="1"/>
          <p:nvPr/>
        </p:nvSpPr>
        <p:spPr>
          <a:xfrm>
            <a:off x="237473" y="3712259"/>
            <a:ext cx="1160906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spc="-119">
                <a:solidFill>
                  <a:srgbClr val="FFFFFF"/>
                </a:solidFill>
              </a:defRPr>
            </a:lvl1pPr>
          </a:lstStyle>
          <a:p>
            <a:r>
              <a:t>Introduction &amp; Background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tangolo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9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40" name="image2.png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fpecorelli@unisa.it…"/>
          <p:cNvSpPr txBox="1"/>
          <p:nvPr/>
        </p:nvSpPr>
        <p:spPr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  <a:uFill>
                  <a:solidFill>
                    <a:srgbClr val="0432FF"/>
                  </a:solidFill>
                </a:uFill>
              </a:defRPr>
            </a:pPr>
            <a:r>
              <a:rPr>
                <a:hlinkClick r:id="rId4"/>
              </a:rPr>
              <a:t>fpecorelli@unisa.it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https://fabiano-pecorelli.github.io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@FabianoPecorel1</a:t>
            </a:r>
          </a:p>
        </p:txBody>
      </p:sp>
      <p:sp>
        <p:nvSpPr>
          <p:cNvPr id="42" name="Forma"/>
          <p:cNvSpPr/>
          <p:nvPr/>
        </p:nvSpPr>
        <p:spPr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3" name="Forma"/>
          <p:cNvSpPr/>
          <p:nvPr/>
        </p:nvSpPr>
        <p:spPr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44" name="image3.png" descr="image3.png"/>
          <p:cNvPicPr>
            <a:picLocks noChangeAspect="1"/>
          </p:cNvPicPr>
          <p:nvPr/>
        </p:nvPicPr>
        <p:blipFill>
          <a:blip r:embed="rId5">
            <a:alphaModFix amt="98000"/>
          </a:blip>
          <a:stretch>
            <a:fillRect/>
          </a:stretch>
        </p:blipFill>
        <p:spPr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onference name…"/>
          <p:cNvSpPr txBox="1"/>
          <p:nvPr/>
        </p:nvSpPr>
        <p:spPr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/>
            <a:r>
              <a:t>Conference name</a:t>
            </a:r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Venue, 2021</a:t>
            </a:r>
          </a:p>
        </p:txBody>
      </p:sp>
      <p:sp>
        <p:nvSpPr>
          <p:cNvPr id="46" name="Introduction &amp; Background"/>
          <p:cNvSpPr txBox="1"/>
          <p:nvPr/>
        </p:nvSpPr>
        <p:spPr>
          <a:xfrm>
            <a:off x="118111" y="410702"/>
            <a:ext cx="11609059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t>Introduction &amp; Background</a:t>
            </a:r>
          </a:p>
        </p:txBody>
      </p:sp>
      <p:sp>
        <p:nvSpPr>
          <p:cNvPr id="4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Immagine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3" cy="1068219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55" name="Rettangolo"/>
          <p:cNvSpPr txBox="1">
            <a:spLocks noGrp="1"/>
          </p:cNvSpPr>
          <p:nvPr>
            <p:ph type="body" sz="quarter" idx="22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56" name="Titolo Testo"/>
          <p:cNvSpPr txBox="1">
            <a:spLocks noGrp="1"/>
          </p:cNvSpPr>
          <p:nvPr>
            <p:ph type="title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Titolo Testo</a:t>
            </a:r>
          </a:p>
        </p:txBody>
      </p:sp>
      <p:sp>
        <p:nvSpPr>
          <p:cNvPr id="5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571500"/>
            <a:ext cx="11607801" cy="461060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3944" y="8237678"/>
            <a:ext cx="1270001" cy="1270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magine"/>
          <p:cNvSpPr>
            <a:spLocks noGrp="1"/>
          </p:cNvSpPr>
          <p:nvPr>
            <p:ph type="pic" idx="21"/>
          </p:nvPr>
        </p:nvSpPr>
        <p:spPr>
          <a:xfrm>
            <a:off x="5319128" y="495298"/>
            <a:ext cx="7543803" cy="87800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6" name="Titolo Testo"/>
          <p:cNvSpPr txBox="1">
            <a:spLocks noGrp="1"/>
          </p:cNvSpPr>
          <p:nvPr>
            <p:ph type="title"/>
          </p:nvPr>
        </p:nvSpPr>
        <p:spPr>
          <a:xfrm>
            <a:off x="698500" y="692533"/>
            <a:ext cx="5105400" cy="4387468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6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 numCol="1" spcCol="38100"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tangol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76" name="Titolo Testo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7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12977"/>
            <a:ext cx="11607801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magin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7" cy="859790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94" name="Rettangolo"/>
          <p:cNvSpPr txBox="1">
            <a:spLocks noGrp="1"/>
          </p:cNvSpPr>
          <p:nvPr>
            <p:ph type="body" sz="half" idx="22"/>
          </p:nvPr>
        </p:nvSpPr>
        <p:spPr>
          <a:xfrm>
            <a:off x="698500" y="3480196"/>
            <a:ext cx="5105400" cy="5593163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95" name="Titolo Testo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96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12977"/>
            <a:ext cx="5105400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ttangol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05" name="Titolo Testo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106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09700"/>
            <a:ext cx="11607801" cy="671803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698500" y="3568700"/>
            <a:ext cx="11607800" cy="2617790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ttangolo"/>
          <p:cNvSpPr txBox="1">
            <a:spLocks noGrp="1"/>
          </p:cNvSpPr>
          <p:nvPr>
            <p:ph type="body" idx="21"/>
          </p:nvPr>
        </p:nvSpPr>
        <p:spPr>
          <a:xfrm>
            <a:off x="698500" y="999064"/>
            <a:ext cx="11607800" cy="5210917"/>
          </a:xfrm>
          <a:prstGeom prst="rect">
            <a:avLst/>
          </a:prstGeom>
        </p:spPr>
        <p:txBody>
          <a:bodyPr numCol="1" spcCol="38100" anchor="b">
            <a:noAutofit/>
          </a:bodyPr>
          <a:lstStyle/>
          <a:p>
            <a:endParaRPr/>
          </a:p>
        </p:txBody>
      </p:sp>
      <p:sp>
        <p:nvSpPr>
          <p:cNvPr id="12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6209979"/>
            <a:ext cx="11607800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tangolo"/>
          <p:cNvSpPr txBox="1">
            <a:spLocks noGrp="1"/>
          </p:cNvSpPr>
          <p:nvPr>
            <p:ph type="body" sz="half" idx="2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3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19200" y="6426200"/>
            <a:ext cx="11049000" cy="461060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Immagine"/>
          <p:cNvSpPr>
            <a:spLocks noGrp="1"/>
          </p:cNvSpPr>
          <p:nvPr>
            <p:ph type="pic" idx="21"/>
          </p:nvPr>
        </p:nvSpPr>
        <p:spPr>
          <a:xfrm>
            <a:off x="-2082800" y="687557"/>
            <a:ext cx="11165190" cy="837389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1" name="Immagine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2" name="Immagine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1" cy="923827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Immagine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2" cy="115417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51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sottotito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olo Testo"/>
          <p:cNvSpPr txBox="1">
            <a:spLocks noGrp="1"/>
          </p:cNvSpPr>
          <p:nvPr>
            <p:ph type="title"/>
          </p:nvPr>
        </p:nvSpPr>
        <p:spPr>
          <a:xfrm>
            <a:off x="355600" y="2044700"/>
            <a:ext cx="12293600" cy="3238500"/>
          </a:xfrm>
          <a:prstGeom prst="rect">
            <a:avLst/>
          </a:prstGeom>
        </p:spPr>
        <p:txBody>
          <a:bodyPr anchor="b"/>
          <a:lstStyle>
            <a:lvl1pPr algn="ctr" defTabSz="584200">
              <a:lnSpc>
                <a:spcPct val="100000"/>
              </a:lnSpc>
              <a:defRPr sz="7200" b="0" cap="all" spc="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1pPr>
          </a:lstStyle>
          <a:p>
            <a:r>
              <a:t>Titolo Testo</a:t>
            </a:r>
          </a:p>
        </p:txBody>
      </p:sp>
      <p:sp>
        <p:nvSpPr>
          <p:cNvPr id="166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355600" y="5270500"/>
            <a:ext cx="12293600" cy="1295400"/>
          </a:xfrm>
          <a:prstGeom prst="rect">
            <a:avLst/>
          </a:prstGeom>
        </p:spPr>
        <p:txBody>
          <a:bodyPr numCol="1" spcCol="38100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1pPr>
            <a:lvl2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2pPr>
            <a:lvl3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3pPr>
            <a:lvl4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4pPr>
            <a:lvl5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67" name="Numero diapositiva"/>
          <p:cNvSpPr>
            <a:spLocks noGrp="1"/>
          </p:cNvSpPr>
          <p:nvPr>
            <p:ph type="sldNum" sz="quarter" idx="2"/>
          </p:nvPr>
        </p:nvSpPr>
        <p:spPr>
          <a:xfrm>
            <a:off x="5861050" y="8356600"/>
            <a:ext cx="1270000" cy="1270000"/>
          </a:xfrm>
          <a:prstGeom prst="line">
            <a:avLst/>
          </a:prstGeom>
        </p:spPr>
        <p:txBody>
          <a:bodyPr/>
          <a:lstStyle>
            <a:lvl1pPr>
              <a:defRPr sz="1800">
                <a:solidFill>
                  <a:srgbClr val="535353"/>
                </a:solidFill>
                <a:latin typeface="+mn-lt"/>
                <a:ea typeface="+mn-ea"/>
                <a:cs typeface="+mn-cs"/>
                <a:sym typeface="Gill Sans Light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 livello uno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589358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" name="Titolo Testo"/>
          <p:cNvSpPr txBox="1">
            <a:spLocks noGrp="1"/>
          </p:cNvSpPr>
          <p:nvPr>
            <p:ph type="title"/>
          </p:nvPr>
        </p:nvSpPr>
        <p:spPr>
          <a:xfrm>
            <a:off x="1948462" y="1950720"/>
            <a:ext cx="10403841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Titolo Testo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4012" y="8237678"/>
            <a:ext cx="1270001" cy="1270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tif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rtfolio-mario-celzo.vercel.app/" TargetMode="External"/><Relationship Id="rId5" Type="http://schemas.openxmlformats.org/officeDocument/2006/relationships/hyperlink" Target="mailto:email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6.tif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hyperlink" Target="https://portfolio-mario-celzo.vercel.ap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email@studenti.unisa.it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hyperlink" Target="https://portfolio-mario-celzo.vercel.ap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email@studenti.unisa.it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folio-mario-celzo.vercel.app/" TargetMode="External"/><Relationship Id="rId3" Type="http://schemas.openxmlformats.org/officeDocument/2006/relationships/image" Target="../media/image7.png"/><Relationship Id="rId7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portfolio-mario-celzo.vercel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hyperlink" Target="mailto:email@studenti.unisa.it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ttangolo"/>
          <p:cNvSpPr/>
          <p:nvPr/>
        </p:nvSpPr>
        <p:spPr>
          <a:xfrm>
            <a:off x="0" y="8421555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7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/>
          <p:cNvSpPr txBox="1">
            <a:spLocks noGrp="1"/>
          </p:cNvSpPr>
          <p:nvPr>
            <p:ph type="title"/>
          </p:nvPr>
        </p:nvSpPr>
        <p:spPr>
          <a:xfrm>
            <a:off x="-34551" y="2895332"/>
            <a:ext cx="13037072" cy="3056041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Progettazione e Sviluppo di un Tool per</a:t>
            </a:r>
            <a:b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l’Estrazione Automatizzata e l’Analisi</a:t>
            </a:r>
            <a:b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 Scenari in Simulazioni CARLA e</a:t>
            </a:r>
            <a:b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5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BeamNG</a:t>
            </a:r>
            <a:r>
              <a:rPr lang="it-IT" sz="5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per Sistemi ADAS/ADS</a:t>
            </a:r>
            <a:endParaRPr sz="5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89" name="image2.png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/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3" name="Nome Cognome Mat.:  xxxxxxxxx"/>
          <p:cNvSpPr txBox="1"/>
          <p:nvPr/>
        </p:nvSpPr>
        <p:spPr>
          <a:xfrm>
            <a:off x="6888740" y="6858268"/>
            <a:ext cx="5537024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Mat.:  </a:t>
            </a:r>
            <a:r>
              <a:rPr lang="it-IT" dirty="0"/>
              <a:t>‭0512118665‬</a:t>
            </a:r>
            <a:endParaRPr dirty="0"/>
          </a:p>
        </p:txBody>
      </p:sp>
      <p:grpSp>
        <p:nvGrpSpPr>
          <p:cNvPr id="196" name="Raggruppa"/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/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7" name="email@studenti.unisa.it…"/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5"/>
              </a:rPr>
              <a:t>m.celzo</a:t>
            </a:r>
            <a:r>
              <a:rPr dirty="0">
                <a:hlinkClick r:id="rId5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6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pic>
        <p:nvPicPr>
          <p:cNvPr id="198" name="world-wide-web.png" descr="world-wide-w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email.png" descr="em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QR code che riporta al PDF della tua tesi —&gt;"/>
          <p:cNvSpPr txBox="1"/>
          <p:nvPr/>
        </p:nvSpPr>
        <p:spPr>
          <a:xfrm>
            <a:off x="9623214" y="8583284"/>
            <a:ext cx="2011107" cy="73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dirty="0"/>
              <a:t>QR code </a:t>
            </a:r>
            <a:r>
              <a:rPr lang="it-IT" dirty="0"/>
              <a:t>della tesi</a:t>
            </a:r>
            <a:r>
              <a:rPr dirty="0"/>
              <a:t>—&gt;</a:t>
            </a:r>
          </a:p>
        </p:txBody>
      </p:sp>
      <p:sp>
        <p:nvSpPr>
          <p:cNvPr id="202" name="Prof. Nome Cognome…"/>
          <p:cNvSpPr txBox="1"/>
          <p:nvPr/>
        </p:nvSpPr>
        <p:spPr>
          <a:xfrm>
            <a:off x="575334" y="6858268"/>
            <a:ext cx="5537024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Prof. </a:t>
            </a:r>
            <a:r>
              <a:rPr lang="it-IT" dirty="0"/>
              <a:t>Carmine Gravino</a:t>
            </a:r>
          </a:p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Dott. </a:t>
            </a:r>
            <a:r>
              <a:rPr lang="it-IT" dirty="0"/>
              <a:t>Antonio</a:t>
            </a:r>
            <a:r>
              <a:rPr dirty="0"/>
              <a:t> </a:t>
            </a:r>
            <a:r>
              <a:rPr lang="it-IT" dirty="0"/>
              <a:t>Trovato</a:t>
            </a:r>
            <a:endParaRPr dirty="0"/>
          </a:p>
        </p:txBody>
      </p:sp>
      <p:sp>
        <p:nvSpPr>
          <p:cNvPr id="203" name="Corso di Laurea (Magistrale) in Informatica"/>
          <p:cNvSpPr txBox="1"/>
          <p:nvPr/>
        </p:nvSpPr>
        <p:spPr>
          <a:xfrm>
            <a:off x="2376032" y="1530558"/>
            <a:ext cx="8252736" cy="38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3419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dirty="0"/>
              <a:t>Corso di Laurea</a:t>
            </a:r>
            <a:r>
              <a:rPr lang="it-IT" dirty="0"/>
              <a:t> </a:t>
            </a:r>
            <a:r>
              <a:rPr dirty="0"/>
              <a:t>in Informatica</a:t>
            </a:r>
          </a:p>
        </p:txBody>
      </p:sp>
      <p:pic>
        <p:nvPicPr>
          <p:cNvPr id="204" name="linkedin(1).png" descr="linkedin(1)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magine 2" descr="Immagine che contiene modello, quadrato, Simmetria, arte&#10;&#10;Il contenuto generato dall'IA potrebbe non essere corretto.">
            <a:extLst>
              <a:ext uri="{FF2B5EF4-FFF2-40B4-BE49-F238E27FC236}">
                <a16:creationId xmlns:a16="http://schemas.microsoft.com/office/drawing/2014/main" id="{25C41086-94F5-9D9B-307B-97EB685FB5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524" y="8507291"/>
            <a:ext cx="1054580" cy="10545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/>
          <p:cNvSpPr txBox="1"/>
          <p:nvPr/>
        </p:nvSpPr>
        <p:spPr>
          <a:xfrm>
            <a:off x="422259" y="128681"/>
            <a:ext cx="9276484" cy="1231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Motivazioni: Il Problema della Sicurezza Stradale</a:t>
            </a:r>
          </a:p>
        </p:txBody>
      </p:sp>
      <p:sp>
        <p:nvSpPr>
          <p:cNvPr id="244" name="Titolo Tesi…"/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A060D14E-A0C0-8DF7-CE9A-97115F76D581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7C28F9-6849-4D2D-538F-8931C41C1FFA}"/>
              </a:ext>
            </a:extLst>
          </p:cNvPr>
          <p:cNvSpPr txBox="1"/>
          <p:nvPr/>
        </p:nvSpPr>
        <p:spPr>
          <a:xfrm>
            <a:off x="422259" y="1185500"/>
            <a:ext cx="5596156" cy="83715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it-IT" sz="2400" b="1" dirty="0">
                <a:latin typeface="+mj-lt"/>
              </a:rPr>
              <a:t>Incidenti stradali: un'emergenza globale</a:t>
            </a:r>
          </a:p>
          <a:p>
            <a:r>
              <a:rPr lang="it-IT" sz="2400" b="1" dirty="0">
                <a:latin typeface="+mj-lt"/>
              </a:rPr>
              <a:t>1.35 milioni</a:t>
            </a:r>
            <a:r>
              <a:rPr lang="it-IT" sz="2400" dirty="0">
                <a:latin typeface="+mj-lt"/>
              </a:rPr>
              <a:t> di morti all'anno nel mondo (OMS, 2023)</a:t>
            </a:r>
          </a:p>
          <a:p>
            <a:r>
              <a:rPr lang="it-IT" sz="2400" b="1" dirty="0">
                <a:latin typeface="+mj-lt"/>
              </a:rPr>
              <a:t>94%</a:t>
            </a:r>
            <a:r>
              <a:rPr lang="it-IT" sz="2400" dirty="0">
                <a:latin typeface="+mj-lt"/>
              </a:rPr>
              <a:t> degli incidenti causati da errore umano</a:t>
            </a:r>
          </a:p>
          <a:p>
            <a:r>
              <a:rPr lang="it-IT" sz="2400" dirty="0">
                <a:latin typeface="+mj-lt"/>
              </a:rPr>
              <a:t>Costi socio-economici: </a:t>
            </a:r>
            <a:r>
              <a:rPr lang="it-IT" sz="2400" b="1" dirty="0">
                <a:latin typeface="+mj-lt"/>
              </a:rPr>
              <a:t>3% del PIL globale</a:t>
            </a:r>
          </a:p>
          <a:p>
            <a:r>
              <a:rPr lang="it-IT" sz="2400" b="1" dirty="0">
                <a:latin typeface="+mj-lt"/>
              </a:rPr>
              <a:t>La soluzione tecnologica</a:t>
            </a:r>
          </a:p>
          <a:p>
            <a:r>
              <a:rPr lang="it-IT" sz="2400" dirty="0">
                <a:latin typeface="+mj-lt"/>
              </a:rPr>
              <a:t>I sistemi ADAS/ADS rappresentano una risposta concreta per ridurre drasticamente gli incidenti attraverso l'automazione</a:t>
            </a:r>
          </a:p>
          <a:p>
            <a:endParaRPr lang="it-IT" sz="2400" b="1" dirty="0">
              <a:latin typeface="+mj-lt"/>
            </a:endParaRPr>
          </a:p>
          <a:p>
            <a:endParaRPr lang="it-IT" sz="2400" dirty="0">
              <a:latin typeface="+mj-lt"/>
            </a:endParaRPr>
          </a:p>
        </p:txBody>
      </p:sp>
      <p:pic>
        <p:nvPicPr>
          <p:cNvPr id="29" name="Immagine 28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CFE0429-EC0B-567A-20B9-519B0AF60D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2115661"/>
            <a:ext cx="6870363" cy="55222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F2CA5-8DF0-9D87-3F55-5588CB33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FEAABD25-9EF8-BE58-23B9-6D77135263C2}"/>
              </a:ext>
            </a:extLst>
          </p:cNvPr>
          <p:cNvSpPr/>
          <p:nvPr/>
        </p:nvSpPr>
        <p:spPr>
          <a:xfrm>
            <a:off x="0" y="8395507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E6069894-55FD-BB3A-34C4-B8F0EB56AD2D}"/>
              </a:ext>
            </a:extLst>
          </p:cNvPr>
          <p:cNvSpPr/>
          <p:nvPr/>
        </p:nvSpPr>
        <p:spPr>
          <a:xfrm>
            <a:off x="0" y="-11606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D878B8CD-A877-797A-A919-D88AE2E07A99}"/>
              </a:ext>
            </a:extLst>
          </p:cNvPr>
          <p:cNvSpPr txBox="1"/>
          <p:nvPr/>
        </p:nvSpPr>
        <p:spPr>
          <a:xfrm>
            <a:off x="429187" y="415985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Introduzione ADAS/ADS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4C638D9E-5637-868C-36EC-3E97F6BCDFE8}"/>
              </a:ext>
            </a:extLst>
          </p:cNvPr>
          <p:cNvSpPr txBox="1"/>
          <p:nvPr/>
        </p:nvSpPr>
        <p:spPr>
          <a:xfrm>
            <a:off x="7732061" y="8700569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7F430289-5426-1893-7B76-9C44695A9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0" y="8938654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C1A18DF3-9BD5-DD36-110A-E8E1F9E1E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0" y="8600482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0476206A-2A56-373E-B1F5-B0DA9A2B9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774" y="135673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56F43A24-61C7-34A3-6D3B-2FC92FE85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80" y="9264126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91F735BB-C8B8-3C06-7BF8-C401DE0F60C8}"/>
              </a:ext>
            </a:extLst>
          </p:cNvPr>
          <p:cNvSpPr txBox="1"/>
          <p:nvPr/>
        </p:nvSpPr>
        <p:spPr>
          <a:xfrm>
            <a:off x="990085" y="8515609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10C180F-26C1-00FB-6427-3786C5BBF9D5}"/>
              </a:ext>
            </a:extLst>
          </p:cNvPr>
          <p:cNvSpPr txBox="1"/>
          <p:nvPr/>
        </p:nvSpPr>
        <p:spPr>
          <a:xfrm>
            <a:off x="181989" y="2043204"/>
            <a:ext cx="5675260" cy="56671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ADAS(Advanced Driver </a:t>
            </a:r>
            <a:r>
              <a:rPr kumimoji="0" lang="it-IT" sz="2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Sistem</a:t>
            </a:r>
            <a:r>
              <a:rPr kumimoji="0" lang="it-IT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) </a:t>
            </a:r>
          </a:p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800" dirty="0">
                <a:latin typeface="+mj-lt"/>
              </a:rPr>
              <a:t>Sistemi di </a:t>
            </a:r>
            <a:r>
              <a:rPr lang="it-IT" sz="2800" b="1" dirty="0">
                <a:latin typeface="+mj-lt"/>
              </a:rPr>
              <a:t>assistenza al conducente</a:t>
            </a:r>
            <a:r>
              <a:rPr lang="it-IT" sz="2800" dirty="0">
                <a:latin typeface="+mj-lt"/>
              </a:rPr>
              <a:t>:</a:t>
            </a:r>
          </a:p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800" dirty="0">
                <a:latin typeface="+mj-lt"/>
              </a:rPr>
              <a:t>Frenata automatica d’emergenza</a:t>
            </a:r>
          </a:p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800" dirty="0">
                <a:latin typeface="+mj-lt"/>
              </a:rPr>
              <a:t>Mantenimento di corsia</a:t>
            </a:r>
          </a:p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800" dirty="0">
                <a:latin typeface="+mj-lt"/>
              </a:rPr>
              <a:t>Cruise control adattivo</a:t>
            </a:r>
          </a:p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800" b="1" dirty="0">
                <a:latin typeface="+mj-lt"/>
              </a:rPr>
              <a:t>Livelli SAE 1-2</a:t>
            </a:r>
            <a:r>
              <a:rPr lang="it-IT" sz="2800" dirty="0">
                <a:latin typeface="+mj-lt"/>
              </a:rPr>
              <a:t>: il conducente mantiene il controllo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612F660-82A0-7C62-9FD9-434F253628CA}"/>
              </a:ext>
            </a:extLst>
          </p:cNvPr>
          <p:cNvSpPr txBox="1"/>
          <p:nvPr/>
        </p:nvSpPr>
        <p:spPr>
          <a:xfrm>
            <a:off x="5857249" y="1014631"/>
            <a:ext cx="6965562" cy="44812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it-IT" sz="2800" b="1" dirty="0">
                <a:latin typeface="+mj-lt"/>
              </a:rPr>
              <a:t>ADS (</a:t>
            </a:r>
            <a:r>
              <a:rPr lang="it-IT" sz="2800" b="1" dirty="0" err="1">
                <a:latin typeface="+mj-lt"/>
              </a:rPr>
              <a:t>Autonomous</a:t>
            </a:r>
            <a:r>
              <a:rPr lang="it-IT" sz="2800" b="1" dirty="0">
                <a:latin typeface="+mj-lt"/>
              </a:rPr>
              <a:t> </a:t>
            </a:r>
            <a:r>
              <a:rPr lang="it-IT" sz="2800" b="1" dirty="0" err="1">
                <a:latin typeface="+mj-lt"/>
              </a:rPr>
              <a:t>Driving</a:t>
            </a:r>
            <a:r>
              <a:rPr lang="it-IT" sz="2800" b="1" dirty="0">
                <a:latin typeface="+mj-lt"/>
              </a:rPr>
              <a:t> Systems)</a:t>
            </a:r>
          </a:p>
          <a:p>
            <a:r>
              <a:rPr lang="it-IT" sz="2800" dirty="0">
                <a:latin typeface="+mj-lt"/>
              </a:rPr>
              <a:t>Sistemi di </a:t>
            </a:r>
            <a:r>
              <a:rPr lang="it-IT" sz="2800" b="1" dirty="0">
                <a:latin typeface="+mj-lt"/>
              </a:rPr>
              <a:t>guida autonoma</a:t>
            </a:r>
            <a:endParaRPr lang="it-IT" sz="2800" dirty="0">
              <a:latin typeface="+mj-lt"/>
            </a:endParaRPr>
          </a:p>
          <a:p>
            <a:r>
              <a:rPr lang="it-IT" sz="2800" dirty="0">
                <a:latin typeface="+mj-lt"/>
              </a:rPr>
              <a:t>Controllo completo del veicolo</a:t>
            </a:r>
          </a:p>
          <a:p>
            <a:r>
              <a:rPr lang="it-IT" sz="2800" dirty="0">
                <a:latin typeface="+mj-lt"/>
              </a:rPr>
              <a:t>Decisioni senza intervento umano</a:t>
            </a:r>
          </a:p>
          <a:p>
            <a:r>
              <a:rPr lang="it-IT" sz="2800" b="1" dirty="0">
                <a:latin typeface="+mj-lt"/>
              </a:rPr>
              <a:t>Livelli SAE 3-5</a:t>
            </a:r>
            <a:r>
              <a:rPr lang="it-IT" sz="2800" dirty="0">
                <a:latin typeface="+mj-lt"/>
              </a:rPr>
              <a:t>: automazione parziale o totale</a:t>
            </a:r>
          </a:p>
        </p:txBody>
      </p:sp>
      <p:pic>
        <p:nvPicPr>
          <p:cNvPr id="7" name="Immagine 6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F04F8F0D-E476-FF34-6271-E63D001192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837" y="5495858"/>
            <a:ext cx="53975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2778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C27AE-6774-FA49-81C2-850DF6E1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C74B5FC7-1FCE-58C2-3316-3F0F568C5E5B}"/>
              </a:ext>
            </a:extLst>
          </p:cNvPr>
          <p:cNvSpPr/>
          <p:nvPr/>
        </p:nvSpPr>
        <p:spPr>
          <a:xfrm>
            <a:off x="0" y="8395507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261C5C8E-AB28-D110-111F-A450E6A0FA72}"/>
              </a:ext>
            </a:extLst>
          </p:cNvPr>
          <p:cNvSpPr/>
          <p:nvPr/>
        </p:nvSpPr>
        <p:spPr>
          <a:xfrm>
            <a:off x="0" y="-11606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C671A992-5734-2955-C02E-1A1BA5AE4CAF}"/>
              </a:ext>
            </a:extLst>
          </p:cNvPr>
          <p:cNvSpPr txBox="1"/>
          <p:nvPr/>
        </p:nvSpPr>
        <p:spPr>
          <a:xfrm>
            <a:off x="429187" y="415985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La Sfida del Testing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A17CC657-D306-5049-0898-CEE21B492B63}"/>
              </a:ext>
            </a:extLst>
          </p:cNvPr>
          <p:cNvSpPr txBox="1"/>
          <p:nvPr/>
        </p:nvSpPr>
        <p:spPr>
          <a:xfrm>
            <a:off x="7732061" y="8700569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92DC4DE3-4765-8D0C-F840-3C09AC7E4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0" y="8938654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DF242A65-BD91-1727-2A24-281E7AFA2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0" y="8600482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4899B471-843D-07D1-EF68-D5118C02F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774" y="135673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B5CD090E-A58D-9ACB-51B5-87776091B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80" y="9264126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36755FC8-CEAA-F23D-A4C1-0D54090C06AC}"/>
              </a:ext>
            </a:extLst>
          </p:cNvPr>
          <p:cNvSpPr txBox="1"/>
          <p:nvPr/>
        </p:nvSpPr>
        <p:spPr>
          <a:xfrm>
            <a:off x="990085" y="8515609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EF6ADEF-3781-56A4-44B5-4F7FAAE706CB}"/>
              </a:ext>
            </a:extLst>
          </p:cNvPr>
          <p:cNvSpPr txBox="1"/>
          <p:nvPr/>
        </p:nvSpPr>
        <p:spPr>
          <a:xfrm>
            <a:off x="13857" y="1417955"/>
            <a:ext cx="5370943" cy="5322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Testare ADAS/ADS: Una Sfida Complessa</a:t>
            </a:r>
          </a:p>
          <a:p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problema della validazione su strada</a:t>
            </a:r>
          </a:p>
          <a:p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Costi proibitivi</a:t>
            </a: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(veicoli, personale, infrastrutture)</a:t>
            </a:r>
            <a:b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Impossibile riprodurre scenari rari</a:t>
            </a: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(condizioni estreme, eventi critici)</a:t>
            </a:r>
            <a:b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Rischi per la sicurezza</a:t>
            </a: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 conducenti e pedoni</a:t>
            </a:r>
            <a:b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it-IT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Spazio infinito di scenari</a:t>
            </a:r>
            <a:r>
              <a:rPr lang="it-IT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servirebbero miliardi di km di test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B70C81-BAE5-2D77-66D1-AD3945046606}"/>
              </a:ext>
            </a:extLst>
          </p:cNvPr>
          <p:cNvSpPr txBox="1"/>
          <p:nvPr/>
        </p:nvSpPr>
        <p:spPr>
          <a:xfrm>
            <a:off x="6317053" y="1003420"/>
            <a:ext cx="6258560" cy="40789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it-IT" sz="2800" b="1" dirty="0">
                <a:latin typeface="+mj-lt"/>
              </a:rPr>
              <a:t>La soluzione: simulazione avanzata</a:t>
            </a:r>
          </a:p>
          <a:p>
            <a:r>
              <a:rPr lang="it-IT" sz="2800" b="1" dirty="0">
                <a:latin typeface="+mj-lt"/>
              </a:rPr>
              <a:t>CARLA</a:t>
            </a:r>
            <a:r>
              <a:rPr lang="it-IT" sz="2800" dirty="0">
                <a:latin typeface="+mj-lt"/>
              </a:rPr>
              <a:t>: realismo urbano, gestione traffico, scenari </a:t>
            </a:r>
            <a:r>
              <a:rPr lang="it-IT" sz="2800" dirty="0" err="1">
                <a:latin typeface="+mj-lt"/>
              </a:rPr>
              <a:t>OpenSCENARIO</a:t>
            </a:r>
            <a:br>
              <a:rPr lang="it-IT" sz="2800" dirty="0">
                <a:latin typeface="+mj-lt"/>
              </a:rPr>
            </a:br>
            <a:r>
              <a:rPr lang="it-IT" sz="2800" b="1" dirty="0" err="1">
                <a:latin typeface="+mj-lt"/>
              </a:rPr>
              <a:t>BeamNG.tech</a:t>
            </a:r>
            <a:r>
              <a:rPr lang="it-IT" sz="2800" dirty="0">
                <a:latin typeface="+mj-lt"/>
              </a:rPr>
              <a:t>: fisica veicolare accurata, deformazioni realistiche</a:t>
            </a:r>
          </a:p>
          <a:p>
            <a:r>
              <a:rPr lang="it-IT" sz="2800" dirty="0"/>
              <a:t>Simulazione = testing sicuro, controllato, scalabile e ripetibile</a:t>
            </a:r>
            <a:endParaRPr kumimoji="0" lang="it-IT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Helvetica"/>
              <a:cs typeface="Helvetica"/>
              <a:sym typeface="Helvetica"/>
            </a:endParaRPr>
          </a:p>
        </p:txBody>
      </p:sp>
      <p:pic>
        <p:nvPicPr>
          <p:cNvPr id="10" name="Immagine 9" descr="Immagine che contiene testo, schermat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76552388-FAA7-5C9A-7851-433C0FD5D8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058" y="5144680"/>
            <a:ext cx="4949715" cy="32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718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16C39-ADA8-C878-E34F-1F684FBF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4949B5A6-3F19-7E22-3BF4-12CBCA81359F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53AC7CDB-DD27-2431-AA13-5A09DCEE8D4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C0055B24-1DF1-8035-94A8-C898F619EA06}"/>
              </a:ext>
            </a:extLst>
          </p:cNvPr>
          <p:cNvSpPr txBox="1"/>
          <p:nvPr/>
        </p:nvSpPr>
        <p:spPr>
          <a:xfrm>
            <a:off x="422259" y="379764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Limiti dello Stato dell'Arte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80FFC329-05D7-0356-68A8-14837EF9EFD0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BC5CB1AC-7ACB-8E14-A2DA-D186ED50C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353E1D72-C804-6BCD-DABF-CAF554F4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E032BACF-753E-80D1-E9C0-67347BF01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55732E73-C1BD-653D-0BE7-B2B0BE8D2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EDA39D78-6EE1-A3EB-DF89-981AA3FAC888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6"/>
              </a:rPr>
              <a:t>m.celzo</a:t>
            </a:r>
            <a:r>
              <a:rPr dirty="0">
                <a:hlinkClick r:id="rId6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7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1397E8-77DA-E8FF-7D39-889056BD8D6E}"/>
              </a:ext>
            </a:extLst>
          </p:cNvPr>
          <p:cNvSpPr txBox="1"/>
          <p:nvPr/>
        </p:nvSpPr>
        <p:spPr>
          <a:xfrm>
            <a:off x="-6928" y="1700677"/>
            <a:ext cx="6502400" cy="1759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Ci sono 4 punti da analizzare per comprendere al meglio i limiti:</a:t>
            </a:r>
            <a:b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</a:br>
            <a:endParaRPr kumimoji="0" lang="it-IT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264802B-7A83-BA60-7631-7F0BB170C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28" y="3838675"/>
            <a:ext cx="6502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Scarsità di dataset realistici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formati standard (</a:t>
            </a:r>
            <a:r>
              <a:rPr kumimoji="0" lang="it-IT" alt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OpenSCENARIO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Frammentazione degli strumenti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ogni simulatore ha il suo formato proprietario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Mancanza di automazione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nell'esecuzione e analisi di scenari su larga scala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Assenza di metriche standardizzate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per valutare criticità e diversità degli scenari</a:t>
            </a:r>
          </a:p>
        </p:txBody>
      </p:sp>
      <p:pic>
        <p:nvPicPr>
          <p:cNvPr id="5" name="Immagine 4" descr="Immagine che contiene veicolo, Veicolo terrestre, ruota, automobile&#10;&#10;Il contenuto generato dall'IA potrebbe non essere corretto.">
            <a:extLst>
              <a:ext uri="{FF2B5EF4-FFF2-40B4-BE49-F238E27FC236}">
                <a16:creationId xmlns:a16="http://schemas.microsoft.com/office/drawing/2014/main" id="{361F796A-627B-0774-33F0-BB73CD413D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43" y="229936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9710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250F2-4AB1-A4AD-0199-DE294BE6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54DB2AFA-7EA2-A5F0-3125-E4EA878FA06D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84C1A9B1-F5C6-25FF-4810-B6C290EB2954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5CC72263-98D5-120A-714A-3A58B21D6107}"/>
              </a:ext>
            </a:extLst>
          </p:cNvPr>
          <p:cNvSpPr txBox="1"/>
          <p:nvPr/>
        </p:nvSpPr>
        <p:spPr>
          <a:xfrm>
            <a:off x="242645" y="65285"/>
            <a:ext cx="9276484" cy="1231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Contributo della Tesi – Un Framework Unificato ASAT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8D869483-1162-CA22-97E9-E3E7F378F17D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79FC4E22-119A-DF6A-BEBB-29148392F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E998D3E6-3079-91CE-06BF-418D6318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2E390904-2510-F2A6-2C2D-23BD8C260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6C9AE926-06C7-5C9D-FD13-98653B9B7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1AC6F83D-22B1-D156-D239-7CEF1C668C17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B649CA-9993-2D41-EA19-DC5D758A508B}"/>
              </a:ext>
            </a:extLst>
          </p:cNvPr>
          <p:cNvSpPr txBox="1"/>
          <p:nvPr/>
        </p:nvSpPr>
        <p:spPr>
          <a:xfrm>
            <a:off x="383634" y="1357206"/>
            <a:ext cx="8041909" cy="13439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Soluzione proposta ASAT (ADAS/ADS scenario </a:t>
            </a:r>
            <a:r>
              <a:rPr kumimoji="0" lang="it-IT" sz="3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analisy</a:t>
            </a:r>
            <a: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tool)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1E73AC-5F4C-ECB0-5068-6DD061379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34" y="2799308"/>
            <a:ext cx="595185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Ponte tra standard e simulatori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Conversione automatica </a:t>
            </a:r>
            <a:r>
              <a:rPr kumimoji="0" lang="it-IT" alt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OpenSCENARIO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formati nativi (CARLA, </a:t>
            </a:r>
            <a:r>
              <a:rPr kumimoji="0" lang="it-IT" alt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BeamNG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Pipeline automatizzata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Esecuzione massiva di scenari + estrazione automatica di feature rilevanti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Metriche quantitative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Calcolo oggettivo di criticità, diversità ed efficienza computazionale</a:t>
            </a:r>
          </a:p>
        </p:txBody>
      </p:sp>
      <p:pic>
        <p:nvPicPr>
          <p:cNvPr id="6" name="Immagine 5" descr="Immagine che contiene strada, veicolo, scena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C548EC24-2F3D-B96F-867B-5742698A1C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704" y="2814691"/>
            <a:ext cx="6540025" cy="326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64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0B95A-B0D4-A48C-228E-016793EE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F1F71E54-E5B7-F78E-BCB4-4DEEF58631C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9FC8153B-7FE3-0962-FC0E-662E4585DF9F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52AFA8B4-9321-562E-89BD-269FE8CD2D5D}"/>
              </a:ext>
            </a:extLst>
          </p:cNvPr>
          <p:cNvSpPr txBox="1"/>
          <p:nvPr/>
        </p:nvSpPr>
        <p:spPr>
          <a:xfrm>
            <a:off x="242645" y="65285"/>
            <a:ext cx="9276484" cy="1231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Metodologia – Approccio Multi-Fase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B01389C5-BA76-D7B6-21D6-4FD413DDC9DD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4EAE1631-7115-C01B-A20C-DBDB9EDF4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F4837460-A281-82EF-0AB3-B9A384615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1852EEFC-FB98-6925-9F69-2C4DC625A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26646A29-41F5-CFE3-A2C1-8C444AB57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BFA6AE1F-FEAE-6EA4-1DDE-E22639683ACF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6"/>
              </a:rPr>
              <a:t>m.celzo</a:t>
            </a:r>
            <a:r>
              <a:rPr dirty="0">
                <a:hlinkClick r:id="rId6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7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0C5562B-8303-BA35-3979-340FD1A7AFD4}"/>
              </a:ext>
            </a:extLst>
          </p:cNvPr>
          <p:cNvSpPr txBox="1"/>
          <p:nvPr/>
        </p:nvSpPr>
        <p:spPr>
          <a:xfrm>
            <a:off x="2695166" y="1117526"/>
            <a:ext cx="8041909" cy="13439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Soluzione proposta ASAT (ADAS/ADS scenario </a:t>
            </a:r>
            <a:r>
              <a:rPr kumimoji="0" lang="it-IT" sz="3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analisy</a:t>
            </a:r>
            <a:r>
              <a:rPr kumimoji="0" lang="it-IT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tool) si suddivide in: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9EA53C-ACDE-36B9-3E6B-6AB81552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803" y="2475616"/>
            <a:ext cx="112326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Fase 0 (Preliminare)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Conversione semantica tra formati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Fase 1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Scenari standardizzati (XOSC) → Esecuzione comparativa su più simulatori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Fase 2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Scenari dinamici (Python) → Generazione dataset annotati con variabilità stocastica</a:t>
            </a:r>
          </a:p>
        </p:txBody>
      </p:sp>
      <p:pic>
        <p:nvPicPr>
          <p:cNvPr id="6" name="Immagine 5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01E914DE-E94B-7B0B-B958-3F884741F6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446" y="5103992"/>
            <a:ext cx="7772400" cy="319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618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B48C9-2663-0094-4E26-210B9510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C77CDD75-DF5C-C42E-858B-192145EE1DB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F476BF71-A9EA-DB15-0CA7-A0354D3F8A0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5FDF5FB8-61AB-0BE8-8A96-FDE6028FFF69}"/>
              </a:ext>
            </a:extLst>
          </p:cNvPr>
          <p:cNvSpPr txBox="1"/>
          <p:nvPr/>
        </p:nvSpPr>
        <p:spPr>
          <a:xfrm>
            <a:off x="242645" y="619283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Le Metriche di Valutazione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928E7811-131B-6F6C-072E-5181D8412B90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7D7B523D-5BF2-9C81-0FCF-35C82CB38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69C06C3A-6C64-88AC-5403-121A2CB25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A97D7E4E-0258-DF0E-A09A-C7092513F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05272BFB-0839-683D-1901-895FBE1DC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0D4AC486-8ACA-F4D4-1581-4EB785E1C0E3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2F212-B353-D8FC-210B-8212EE13C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17" y="2025162"/>
            <a:ext cx="722241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b="1" dirty="0" err="1">
                <a:solidFill>
                  <a:schemeClr val="tx1"/>
                </a:solidFill>
                <a:latin typeface="+mj-lt"/>
              </a:rPr>
              <a:t>Execution</a:t>
            </a:r>
            <a:r>
              <a:rPr lang="it-IT" altLang="it-IT" sz="2400" b="1" dirty="0">
                <a:solidFill>
                  <a:schemeClr val="tx1"/>
                </a:solidFill>
                <a:latin typeface="+mj-lt"/>
              </a:rPr>
              <a:t> Time 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Costo computazionale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Tempo fino a collisione o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timeout</a:t>
            </a: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b="1" dirty="0" err="1">
                <a:solidFill>
                  <a:schemeClr val="tx1"/>
                </a:solidFill>
                <a:latin typeface="+mj-lt"/>
              </a:rPr>
              <a:t>Criticality</a:t>
            </a:r>
            <a:r>
              <a:rPr lang="it-IT" altLang="it-IT" sz="2400" b="1" dirty="0">
                <a:solidFill>
                  <a:schemeClr val="tx1"/>
                </a:solidFill>
                <a:latin typeface="+mj-lt"/>
              </a:rPr>
              <a:t> Score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Eventi pericolosi 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Condizioni ambientali avverse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b="1" dirty="0" err="1">
                <a:solidFill>
                  <a:schemeClr val="tx1"/>
                </a:solidFill>
                <a:latin typeface="+mj-lt"/>
              </a:rPr>
              <a:t>Diversity</a:t>
            </a:r>
            <a:r>
              <a:rPr lang="it-IT" altLang="it-IT" sz="2400" b="1" dirty="0">
                <a:solidFill>
                  <a:schemeClr val="tx1"/>
                </a:solidFill>
                <a:latin typeface="+mj-lt"/>
              </a:rPr>
              <a:t> Score 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Dissimilarità tra scenari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Copertura spazio operativo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400" b="1" dirty="0">
                <a:solidFill>
                  <a:schemeClr val="tx1"/>
                </a:solidFill>
                <a:latin typeface="+mj-lt"/>
              </a:rPr>
              <a:t>Obiettivo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: Selezionare scenari informativi riducendo test ridondanti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7ABC188-252F-1643-F639-D2C632DC3B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52" y="1830094"/>
            <a:ext cx="5977274" cy="59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459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80FF7-C0C5-5792-1362-E9A3E882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40F64509-BC46-8E8A-DC31-DAD9C769768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F8D8B994-6FD1-D6CD-3C0F-1E23A07F70B4}"/>
              </a:ext>
            </a:extLst>
          </p:cNvPr>
          <p:cNvSpPr/>
          <p:nvPr/>
        </p:nvSpPr>
        <p:spPr>
          <a:xfrm>
            <a:off x="-6928" y="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F8B21B60-740B-BD00-67E4-E9F25314227A}"/>
              </a:ext>
            </a:extLst>
          </p:cNvPr>
          <p:cNvSpPr txBox="1"/>
          <p:nvPr/>
        </p:nvSpPr>
        <p:spPr>
          <a:xfrm>
            <a:off x="242645" y="377874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Impatto e Contributi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34E729BD-2BCB-545F-8BE1-D58A66DBCB98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DCB5CD3F-89E3-A99D-C2A3-5AA28502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8F348133-18F6-8A11-D86B-7B2EF6E9E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3B72FED2-F7AA-63AD-7AC9-B0A3FDB19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369" y="184758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CCE5DDFA-303A-4AAA-609B-1B1FDB93D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041B0853-6AFE-7555-21AB-728BED8AD82C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70E92-2A6E-2941-E297-4FF6C6C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4" y="1553352"/>
            <a:ext cx="1244465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Contributo Metodologico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Prima formalizzazione pipeline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OpenSCENARIO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 →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BeamNG</a:t>
            </a: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Preservazione semantica attraverso mapping strutturato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Framework estensibile a nuovi simulatori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Contributo Applicativo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Automazione completa: generazione → esecuzione → valutazione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Dataset sintetici annotati per ML-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based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 test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selection</a:t>
            </a: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Riduzione costi attraverso selezione mirata degli scenari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Allineamento con metodologie recenti: SDC-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Scissor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 Feng et al. 2021,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AsFault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 Gambi et al. 2019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7D15BE7-C3D8-1DB4-8B9E-A36E78EDE6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969" y="5339004"/>
            <a:ext cx="7772400" cy="24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651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F9E27-E2CF-3BA9-3038-3D6D63C1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ttangolo">
            <a:extLst>
              <a:ext uri="{FF2B5EF4-FFF2-40B4-BE49-F238E27FC236}">
                <a16:creationId xmlns:a16="http://schemas.microsoft.com/office/drawing/2014/main" id="{A9A1FF93-5E85-0D67-EA87-5C5C2800B242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Rettangolo">
            <a:extLst>
              <a:ext uri="{FF2B5EF4-FFF2-40B4-BE49-F238E27FC236}">
                <a16:creationId xmlns:a16="http://schemas.microsoft.com/office/drawing/2014/main" id="{51E8DCD3-94B1-308E-AB6D-ABB1AC1A845D}"/>
              </a:ext>
            </a:extLst>
          </p:cNvPr>
          <p:cNvSpPr/>
          <p:nvPr/>
        </p:nvSpPr>
        <p:spPr>
          <a:xfrm>
            <a:off x="-6928" y="499982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243" name="Introduzione e Background">
            <a:extLst>
              <a:ext uri="{FF2B5EF4-FFF2-40B4-BE49-F238E27FC236}">
                <a16:creationId xmlns:a16="http://schemas.microsoft.com/office/drawing/2014/main" id="{2BE5C90B-6E68-46C3-7EF3-81D790B14199}"/>
              </a:ext>
            </a:extLst>
          </p:cNvPr>
          <p:cNvSpPr txBox="1"/>
          <p:nvPr/>
        </p:nvSpPr>
        <p:spPr>
          <a:xfrm>
            <a:off x="242645" y="619283"/>
            <a:ext cx="9276484" cy="67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Limitazioni e Direzioni Future</a:t>
            </a:r>
          </a:p>
        </p:txBody>
      </p:sp>
      <p:sp>
        <p:nvSpPr>
          <p:cNvPr id="244" name="Titolo Tesi…">
            <a:extLst>
              <a:ext uri="{FF2B5EF4-FFF2-40B4-BE49-F238E27FC236}">
                <a16:creationId xmlns:a16="http://schemas.microsoft.com/office/drawing/2014/main" id="{45E7F48B-F323-BBAD-B318-22321BDE5D2E}"/>
              </a:ext>
            </a:extLst>
          </p:cNvPr>
          <p:cNvSpPr txBox="1"/>
          <p:nvPr/>
        </p:nvSpPr>
        <p:spPr>
          <a:xfrm>
            <a:off x="7725133" y="8714065"/>
            <a:ext cx="4735016" cy="7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 lang="it-IT" dirty="0"/>
              <a:t>Mario</a:t>
            </a:r>
            <a:r>
              <a:rPr dirty="0"/>
              <a:t> </a:t>
            </a:r>
            <a:r>
              <a:rPr lang="it-IT" dirty="0"/>
              <a:t>Celzo</a:t>
            </a:r>
            <a:br>
              <a:rPr dirty="0"/>
            </a:br>
            <a:r>
              <a:rPr dirty="0"/>
              <a:t>Università degli Studi di Salerno</a:t>
            </a:r>
          </a:p>
        </p:txBody>
      </p:sp>
      <p:pic>
        <p:nvPicPr>
          <p:cNvPr id="246" name="world-wide-web.png" descr="world-wide-web.png">
            <a:extLst>
              <a:ext uri="{FF2B5EF4-FFF2-40B4-BE49-F238E27FC236}">
                <a16:creationId xmlns:a16="http://schemas.microsoft.com/office/drawing/2014/main" id="{F040C812-2FFC-3E1A-5280-5A2C09C9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email.png" descr="email.png">
            <a:extLst>
              <a:ext uri="{FF2B5EF4-FFF2-40B4-BE49-F238E27FC236}">
                <a16:creationId xmlns:a16="http://schemas.microsoft.com/office/drawing/2014/main" id="{36D112D5-B473-F018-B72E-1FCF65B74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2.png" descr="image2.png">
            <a:extLst>
              <a:ext uri="{FF2B5EF4-FFF2-40B4-BE49-F238E27FC236}">
                <a16:creationId xmlns:a16="http://schemas.microsoft.com/office/drawing/2014/main" id="{2B77A923-7954-F749-D09E-FEF1258F7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linkedin(1).png" descr="linkedin(1).png">
            <a:extLst>
              <a:ext uri="{FF2B5EF4-FFF2-40B4-BE49-F238E27FC236}">
                <a16:creationId xmlns:a16="http://schemas.microsoft.com/office/drawing/2014/main" id="{4EBB9228-BAE9-FAA0-3D26-2A853BACF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email@studenti.unisa.it…">
            <a:extLst>
              <a:ext uri="{FF2B5EF4-FFF2-40B4-BE49-F238E27FC236}">
                <a16:creationId xmlns:a16="http://schemas.microsoft.com/office/drawing/2014/main" id="{8478D882-86EA-BEEC-6306-27D9410D0118}"/>
              </a:ext>
            </a:extLst>
          </p:cNvPr>
          <p:cNvSpPr txBox="1"/>
          <p:nvPr/>
        </p:nvSpPr>
        <p:spPr>
          <a:xfrm>
            <a:off x="983157" y="8529105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7"/>
              </a:rPr>
              <a:t>m.celzo</a:t>
            </a:r>
            <a:r>
              <a:rPr dirty="0">
                <a:hlinkClick r:id="rId7"/>
              </a:rPr>
              <a:t>@studenti.unisa.it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8"/>
              </a:rPr>
              <a:t>Sito web</a:t>
            </a:r>
            <a:endParaRPr dirty="0"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993294-099A-1D14-7761-982344B1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45" y="2703749"/>
            <a:ext cx="579620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b="1" dirty="0">
                <a:solidFill>
                  <a:schemeClr val="tx1"/>
                </a:solidFill>
                <a:latin typeface="+mj-lt"/>
              </a:rPr>
              <a:t>Limitazioni Attuali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Subset pragmatico di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OpenSCENARIO</a:t>
            </a: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Validazione principalmente su CARLA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Sviluppi Futuri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Integrazione algoritmi ML per test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selection</a:t>
            </a:r>
            <a:endParaRPr lang="it-IT" altLang="it-IT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Estensione multi-simulatore (LGSVL, </a:t>
            </a:r>
            <a:r>
              <a:rPr lang="it-IT" altLang="it-IT" sz="2400" dirty="0" err="1">
                <a:solidFill>
                  <a:schemeClr val="tx1"/>
                </a:solidFill>
                <a:latin typeface="+mj-lt"/>
              </a:rPr>
              <a:t>AirSim</a:t>
            </a: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Conformità standard ISO 26262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Inserire immagine timeline presente-futuro</a:t>
            </a:r>
          </a:p>
          <a:p>
            <a:pPr lvl="0" defTabSz="91440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2400" dirty="0">
                <a:solidFill>
                  <a:schemeClr val="tx1"/>
                </a:solidFill>
                <a:latin typeface="+mj-lt"/>
              </a:rPr>
              <a:t>Prospettiva: Verso framework certificabili per la validazione industriale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91C97D1-0364-4C1B-311E-D71C50372E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0" y="3030593"/>
            <a:ext cx="6696515" cy="45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036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ttangolo"/>
          <p:cNvSpPr/>
          <p:nvPr/>
        </p:nvSpPr>
        <p:spPr>
          <a:xfrm>
            <a:off x="8242275" y="-11318"/>
            <a:ext cx="4767545" cy="9764918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2F2F2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17" name="Titolo tesi"/>
          <p:cNvSpPr txBox="1"/>
          <p:nvPr/>
        </p:nvSpPr>
        <p:spPr>
          <a:xfrm>
            <a:off x="8287724" y="248521"/>
            <a:ext cx="4676646" cy="32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Progettazione e Sviluppo di un Tool per</a:t>
            </a:r>
            <a:b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l’Estrazione Automatizzata e l’Analisi</a:t>
            </a:r>
            <a:b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 Scenari in Simulazioni CARLA e</a:t>
            </a:r>
            <a:b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it-IT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BeamNG</a:t>
            </a:r>
            <a:r>
              <a:rPr lang="it-IT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per Sistemi ADAS/ADS</a:t>
            </a:r>
            <a:endParaRPr dirty="0"/>
          </a:p>
        </p:txBody>
      </p:sp>
      <p:pic>
        <p:nvPicPr>
          <p:cNvPr id="319" name="world-wide-web.png" descr="world-wide-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007" y="8491624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email.png" descr="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0007" y="8153452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Nome Cognome"/>
          <p:cNvSpPr txBox="1"/>
          <p:nvPr/>
        </p:nvSpPr>
        <p:spPr>
          <a:xfrm>
            <a:off x="9262318" y="7387512"/>
            <a:ext cx="3551395" cy="485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r>
              <a:rPr lang="it-IT" dirty="0"/>
              <a:t>Mario Celzo</a:t>
            </a:r>
            <a:endParaRPr dirty="0"/>
          </a:p>
        </p:txBody>
      </p:sp>
      <p:sp>
        <p:nvSpPr>
          <p:cNvPr id="325" name="Grazie!"/>
          <p:cNvSpPr txBox="1"/>
          <p:nvPr/>
        </p:nvSpPr>
        <p:spPr>
          <a:xfrm>
            <a:off x="2498673" y="3512235"/>
            <a:ext cx="5630419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r"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sz="6000" dirty="0"/>
              <a:t>GRAZIE PER L’ATTENZIONE </a:t>
            </a:r>
            <a:endParaRPr sz="6000" dirty="0"/>
          </a:p>
        </p:txBody>
      </p:sp>
      <p:pic>
        <p:nvPicPr>
          <p:cNvPr id="331" name="linkedin(1).png" descr="linkedin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307" y="8829795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mail@studenti.unisa.it…">
            <a:extLst>
              <a:ext uri="{FF2B5EF4-FFF2-40B4-BE49-F238E27FC236}">
                <a16:creationId xmlns:a16="http://schemas.microsoft.com/office/drawing/2014/main" id="{1F98C9A7-B4C8-F100-F9C6-7B7AEAA2E86B}"/>
              </a:ext>
            </a:extLst>
          </p:cNvPr>
          <p:cNvSpPr txBox="1"/>
          <p:nvPr/>
        </p:nvSpPr>
        <p:spPr>
          <a:xfrm>
            <a:off x="9536788" y="8085080"/>
            <a:ext cx="2896627" cy="106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it-IT" dirty="0">
                <a:hlinkClick r:id="rId6"/>
              </a:rPr>
              <a:t>m.celzo</a:t>
            </a:r>
            <a:r>
              <a:rPr dirty="0">
                <a:hlinkClick r:id="rId6"/>
              </a:rPr>
              <a:t>@studenti.unisa.it</a:t>
            </a:r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hlinkClick r:id="rId7"/>
              </a:rPr>
              <a:t>Sito web</a:t>
            </a:r>
            <a:endParaRPr dirty="0"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@</a:t>
            </a:r>
            <a:r>
              <a:rPr lang="it-IT" dirty="0" err="1"/>
              <a:t>mariocelzo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1353</Words>
  <Application>Microsoft Macintosh PowerPoint</Application>
  <PresentationFormat>Personalizzato</PresentationFormat>
  <Paragraphs>138</Paragraphs>
  <Slides>11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Helvetica</vt:lpstr>
      <vt:lpstr>Helvetica Neue</vt:lpstr>
      <vt:lpstr>Helvetica Neue Medium</vt:lpstr>
      <vt:lpstr>Lucida Grande</vt:lpstr>
      <vt:lpstr>White</vt:lpstr>
      <vt:lpstr>Progettazione e Sviluppo di un Tool per l’Estrazione Automatizzata e l’Analisi di Scenari in Simulazioni CARLA e BeamNG per Sistemi ADAS/ADS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Mario Celzo</cp:lastModifiedBy>
  <cp:revision>7</cp:revision>
  <dcterms:modified xsi:type="dcterms:W3CDTF">2025-12-02T10:34:29Z</dcterms:modified>
</cp:coreProperties>
</file>