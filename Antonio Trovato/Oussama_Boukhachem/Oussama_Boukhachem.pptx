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7" r:id="rId2"/>
    <p:sldId id="269" r:id="rId3"/>
    <p:sldId id="301" r:id="rId4"/>
    <p:sldId id="302" r:id="rId5"/>
    <p:sldId id="303" r:id="rId6"/>
    <p:sldId id="304" r:id="rId7"/>
    <p:sldId id="305" r:id="rId8"/>
    <p:sldId id="306" r:id="rId9"/>
    <p:sldId id="308" r:id="rId10"/>
    <p:sldId id="309" r:id="rId11"/>
    <p:sldId id="307" r:id="rId12"/>
    <p:sldId id="280" r:id="rId13"/>
    <p:sldId id="281" r:id="rId14"/>
    <p:sldId id="282" r:id="rId15"/>
    <p:sldId id="270" r:id="rId16"/>
    <p:sldId id="285" r:id="rId17"/>
    <p:sldId id="283" r:id="rId18"/>
    <p:sldId id="284" r:id="rId19"/>
    <p:sldId id="286" r:id="rId20"/>
    <p:sldId id="271" r:id="rId21"/>
    <p:sldId id="288" r:id="rId22"/>
    <p:sldId id="289" r:id="rId23"/>
    <p:sldId id="287" r:id="rId24"/>
    <p:sldId id="272" r:id="rId25"/>
    <p:sldId id="290" r:id="rId26"/>
    <p:sldId id="273" r:id="rId27"/>
    <p:sldId id="292" r:id="rId28"/>
    <p:sldId id="291" r:id="rId29"/>
    <p:sldId id="274" r:id="rId30"/>
    <p:sldId id="293" r:id="rId31"/>
    <p:sldId id="276" r:id="rId32"/>
    <p:sldId id="294" r:id="rId33"/>
    <p:sldId id="298" r:id="rId34"/>
    <p:sldId id="275" r:id="rId35"/>
    <p:sldId id="299" r:id="rId36"/>
    <p:sldId id="297" r:id="rId37"/>
    <p:sldId id="277" r:id="rId38"/>
    <p:sldId id="278" r:id="rId39"/>
    <p:sldId id="279" r:id="rId4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574" y="-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mailto:fpecorelli@unisa.it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"/>
          <p:cNvSpPr txBox="1">
            <a:spLocks noGrp="1"/>
          </p:cNvSpPr>
          <p:nvPr>
            <p:ph type="body" sz="quarter" idx="2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12" name="Titolo Testo"/>
          <p:cNvSpPr txBox="1">
            <a:spLocks noGrp="1"/>
          </p:cNvSpPr>
          <p:nvPr>
            <p:ph type="title"/>
          </p:nvPr>
        </p:nvSpPr>
        <p:spPr>
          <a:xfrm>
            <a:off x="698500" y="1854200"/>
            <a:ext cx="11609059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Titolo Testo</a:t>
            </a:r>
          </a:p>
        </p:txBody>
      </p:sp>
      <p:sp>
        <p:nvSpPr>
          <p:cNvPr id="13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8657487"/>
            <a:ext cx="11607801" cy="461062"/>
          </a:xfrm>
          <a:prstGeom prst="rect">
            <a:avLst/>
          </a:prstGeom>
        </p:spPr>
        <p:txBody>
          <a:bodyPr numCol="1" spcCol="38100" anchor="b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bg>
      <p:bgPr>
        <a:blipFill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" name="Rettangolo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3" name="Rettangolo"/>
          <p:cNvSpPr/>
          <p:nvPr/>
        </p:nvSpPr>
        <p:spPr>
          <a:xfrm>
            <a:off x="-6928" y="1888"/>
            <a:ext cx="13018657" cy="4876805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4" name="image2.png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9490" y="149170"/>
            <a:ext cx="2208781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fpecorelli@unisa.it…"/>
          <p:cNvSpPr txBox="1"/>
          <p:nvPr/>
        </p:nvSpPr>
        <p:spPr>
          <a:xfrm>
            <a:off x="708161" y="8560997"/>
            <a:ext cx="4735013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 u="sng">
                <a:solidFill>
                  <a:srgbClr val="0432FF"/>
                </a:solidFill>
                <a:uFill>
                  <a:solidFill>
                    <a:srgbClr val="0432FF"/>
                  </a:solidFill>
                </a:uFill>
              </a:defRPr>
            </a:pPr>
            <a:r>
              <a:rPr>
                <a:hlinkClick r:id="rId4"/>
              </a:rPr>
              <a:t>fpecorelli@unisa.it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https://fabiano-pecorelli.github.io</a:t>
            </a: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@FabianoPecorel1</a:t>
            </a:r>
          </a:p>
        </p:txBody>
      </p:sp>
      <p:sp>
        <p:nvSpPr>
          <p:cNvPr id="26" name="Forma"/>
          <p:cNvSpPr/>
          <p:nvPr/>
        </p:nvSpPr>
        <p:spPr>
          <a:xfrm>
            <a:off x="285325" y="8702940"/>
            <a:ext cx="254004" cy="16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" name="Forma"/>
          <p:cNvSpPr/>
          <p:nvPr/>
        </p:nvSpPr>
        <p:spPr>
          <a:xfrm>
            <a:off x="285325" y="8961048"/>
            <a:ext cx="254004" cy="254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8" name="image3.png" descr="image3.png"/>
          <p:cNvPicPr>
            <a:picLocks noChangeAspect="1"/>
          </p:cNvPicPr>
          <p:nvPr/>
        </p:nvPicPr>
        <p:blipFill>
          <a:blip r:embed="rId5">
            <a:alphaModFix amt="98000"/>
          </a:blip>
          <a:stretch>
            <a:fillRect/>
          </a:stretch>
        </p:blipFill>
        <p:spPr>
          <a:xfrm>
            <a:off x="285325" y="9315094"/>
            <a:ext cx="254004" cy="254003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Conference name…"/>
          <p:cNvSpPr txBox="1"/>
          <p:nvPr/>
        </p:nvSpPr>
        <p:spPr>
          <a:xfrm>
            <a:off x="7877533" y="8560997"/>
            <a:ext cx="4735016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br/>
            <a:r>
              <a:t>Conference name</a:t>
            </a:r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t>Venue, year</a:t>
            </a:r>
          </a:p>
        </p:txBody>
      </p:sp>
      <p:sp>
        <p:nvSpPr>
          <p:cNvPr id="30" name="Introduction &amp; Background"/>
          <p:cNvSpPr txBox="1"/>
          <p:nvPr/>
        </p:nvSpPr>
        <p:spPr>
          <a:xfrm>
            <a:off x="237473" y="3712259"/>
            <a:ext cx="1160906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1" spc="-119">
                <a:solidFill>
                  <a:srgbClr val="FFFFFF"/>
                </a:solidFill>
              </a:defRPr>
            </a:lvl1pPr>
          </a:lstStyle>
          <a:p>
            <a:r>
              <a:t>Introduction &amp; Background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Immagine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3" cy="1068219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55" name="Rettangolo"/>
          <p:cNvSpPr txBox="1">
            <a:spLocks noGrp="1"/>
          </p:cNvSpPr>
          <p:nvPr>
            <p:ph type="body" sz="quarter" idx="22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56" name="Titolo Testo"/>
          <p:cNvSpPr txBox="1">
            <a:spLocks noGrp="1"/>
          </p:cNvSpPr>
          <p:nvPr>
            <p:ph type="title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Titolo Testo</a:t>
            </a:r>
          </a:p>
        </p:txBody>
      </p:sp>
      <p:sp>
        <p:nvSpPr>
          <p:cNvPr id="5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571500"/>
            <a:ext cx="11607801" cy="461060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3944" y="8237678"/>
            <a:ext cx="1270001" cy="1270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magine"/>
          <p:cNvSpPr>
            <a:spLocks noGrp="1"/>
          </p:cNvSpPr>
          <p:nvPr>
            <p:ph type="pic" idx="21"/>
          </p:nvPr>
        </p:nvSpPr>
        <p:spPr>
          <a:xfrm>
            <a:off x="5319128" y="495298"/>
            <a:ext cx="7543803" cy="87800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6" name="Titolo Testo"/>
          <p:cNvSpPr txBox="1">
            <a:spLocks noGrp="1"/>
          </p:cNvSpPr>
          <p:nvPr>
            <p:ph type="title"/>
          </p:nvPr>
        </p:nvSpPr>
        <p:spPr>
          <a:xfrm>
            <a:off x="698500" y="692533"/>
            <a:ext cx="5105400" cy="4387468"/>
          </a:xfrm>
          <a:prstGeom prst="rect">
            <a:avLst/>
          </a:prstGeom>
        </p:spPr>
        <p:txBody>
          <a:bodyPr anchor="b"/>
          <a:lstStyle/>
          <a:p>
            <a:r>
              <a:t>Titolo Testo</a:t>
            </a:r>
          </a:p>
        </p:txBody>
      </p:sp>
      <p:sp>
        <p:nvSpPr>
          <p:cNvPr id="6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 numCol="1" spcCol="38100"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tangol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76" name="Titolo Testo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77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1412977"/>
            <a:ext cx="11607801" cy="671805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rpo livello un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magin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7" cy="859790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94" name="Rettangolo"/>
          <p:cNvSpPr txBox="1">
            <a:spLocks noGrp="1"/>
          </p:cNvSpPr>
          <p:nvPr>
            <p:ph type="body" sz="half" idx="22"/>
          </p:nvPr>
        </p:nvSpPr>
        <p:spPr>
          <a:xfrm>
            <a:off x="698500" y="3480196"/>
            <a:ext cx="5105400" cy="5593163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95" name="Titolo Testo"/>
          <p:cNvSpPr txBox="1">
            <a:spLocks noGrp="1"/>
          </p:cNvSpPr>
          <p:nvPr>
            <p:ph type="title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96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1412977"/>
            <a:ext cx="5105400" cy="671805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ttangol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105" name="Titolo Testo"/>
          <p:cNvSpPr txBox="1">
            <a:spLocks noGrp="1"/>
          </p:cNvSpPr>
          <p:nvPr>
            <p:ph type="title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106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1409700"/>
            <a:ext cx="11607801" cy="671803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7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698500" y="3568700"/>
            <a:ext cx="11607800" cy="2617790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ttangolo"/>
          <p:cNvSpPr txBox="1">
            <a:spLocks noGrp="1"/>
          </p:cNvSpPr>
          <p:nvPr>
            <p:ph type="body" idx="21"/>
          </p:nvPr>
        </p:nvSpPr>
        <p:spPr>
          <a:xfrm>
            <a:off x="698500" y="999064"/>
            <a:ext cx="11607800" cy="5210917"/>
          </a:xfrm>
          <a:prstGeom prst="rect">
            <a:avLst/>
          </a:prstGeom>
        </p:spPr>
        <p:txBody>
          <a:bodyPr numCol="1" spcCol="38100" anchor="b">
            <a:noAutofit/>
          </a:bodyPr>
          <a:lstStyle/>
          <a:p>
            <a:endParaRPr/>
          </a:p>
        </p:txBody>
      </p:sp>
      <p:sp>
        <p:nvSpPr>
          <p:cNvPr id="123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698500" y="6209979"/>
            <a:ext cx="11607800" cy="671805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24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tangolo"/>
          <p:cNvSpPr txBox="1">
            <a:spLocks noGrp="1"/>
          </p:cNvSpPr>
          <p:nvPr>
            <p:ph type="body" sz="half" idx="2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13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219200" y="6426200"/>
            <a:ext cx="11049000" cy="461060"/>
          </a:xfrm>
          <a:prstGeom prst="rect">
            <a:avLst/>
          </a:prstGeom>
        </p:spPr>
        <p:txBody>
          <a:bodyPr numCol="1" spcCol="38100" anchor="ctr"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Immagine"/>
          <p:cNvSpPr>
            <a:spLocks noGrp="1"/>
          </p:cNvSpPr>
          <p:nvPr>
            <p:ph type="pic" idx="21"/>
          </p:nvPr>
        </p:nvSpPr>
        <p:spPr>
          <a:xfrm>
            <a:off x="-2082800" y="687557"/>
            <a:ext cx="11165190" cy="837389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1" name="Immagine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2" name="Immagine"/>
          <p:cNvSpPr>
            <a:spLocks noGrp="1"/>
          </p:cNvSpPr>
          <p:nvPr>
            <p:ph type="pic" idx="23"/>
          </p:nvPr>
        </p:nvSpPr>
        <p:spPr>
          <a:xfrm>
            <a:off x="4984750" y="2749550"/>
            <a:ext cx="7937501" cy="923827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4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Immagine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2" cy="115417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51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po livello uno…"/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589358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" name="Titolo Testo"/>
          <p:cNvSpPr txBox="1">
            <a:spLocks noGrp="1"/>
          </p:cNvSpPr>
          <p:nvPr>
            <p:ph type="title"/>
          </p:nvPr>
        </p:nvSpPr>
        <p:spPr>
          <a:xfrm>
            <a:off x="1948462" y="1950720"/>
            <a:ext cx="10403841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Titolo Testo</a:t>
            </a:r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64012" y="8237678"/>
            <a:ext cx="1270001" cy="1270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1.emf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1.emf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5" Type="http://schemas.openxmlformats.org/officeDocument/2006/relationships/image" Target="../media/image22.emf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Relationship Id="rId1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12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5.tif"/><Relationship Id="rId9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tif"/><Relationship Id="rId7" Type="http://schemas.openxmlformats.org/officeDocument/2006/relationships/hyperlink" Target="https://www.linkedin.com/in/oussama-boukhachem/" TargetMode="External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ussama-boukhachem/Thesis_Master_Degree_UNISA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o.boukhachem@studenti.unisa.it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ttangolo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7" name="Rettangolo"/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/>
          <p:cNvSpPr txBox="1">
            <a:spLocks noGrp="1"/>
          </p:cNvSpPr>
          <p:nvPr>
            <p:ph type="title"/>
          </p:nvPr>
        </p:nvSpPr>
        <p:spPr>
          <a:xfrm>
            <a:off x="1313872" y="3818777"/>
            <a:ext cx="10377055" cy="1573781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4000" dirty="0"/>
              <a:t>Comparing handwritten and AI-generated microbenchmarks for performance regression detection</a:t>
            </a:r>
            <a:endParaRPr sz="4000" dirty="0"/>
          </a:p>
        </p:txBody>
      </p:sp>
      <p:pic>
        <p:nvPicPr>
          <p:cNvPr id="189" name="image2.png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/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/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3" name="Nome Cognome Mat.:  xxxxxxxxx"/>
          <p:cNvSpPr txBox="1"/>
          <p:nvPr/>
        </p:nvSpPr>
        <p:spPr>
          <a:xfrm>
            <a:off x="6888740" y="6858268"/>
            <a:ext cx="5537024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2900" b="1" dirty="0">
                <a:sym typeface="Helvetica Neue"/>
              </a:rPr>
              <a:t>Oussama Boukhachem</a:t>
            </a:r>
            <a:br>
              <a:rPr dirty="0"/>
            </a:br>
            <a:r>
              <a:rPr dirty="0"/>
              <a:t>Mat.: </a:t>
            </a:r>
            <a:r>
              <a:rPr lang="en-US" sz="2900" b="1" dirty="0">
                <a:sym typeface="Helvetica Neue"/>
              </a:rPr>
              <a:t>0522501392 </a:t>
            </a:r>
            <a:endParaRPr dirty="0"/>
          </a:p>
        </p:txBody>
      </p:sp>
      <p:grpSp>
        <p:nvGrpSpPr>
          <p:cNvPr id="196" name="Raggruppa"/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/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/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7" name="email@studenti.unisa.it…"/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98" name="world-wide-web.png" descr="world-wide-w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email.png" descr="e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QR code che riporta al PDF della tua tesi —&gt;"/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201" name="Immagine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2" name="Prof. Nome Cognome…"/>
          <p:cNvSpPr txBox="1"/>
          <p:nvPr/>
        </p:nvSpPr>
        <p:spPr>
          <a:xfrm>
            <a:off x="575334" y="6858268"/>
            <a:ext cx="5537024" cy="995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/>
              <a:t>Prof. </a:t>
            </a:r>
            <a:r>
              <a:rPr lang="en-US" sz="2900" b="1" dirty="0">
                <a:sym typeface="Helvetica Neue"/>
              </a:rPr>
              <a:t>Dario Di Nucci </a:t>
            </a:r>
            <a:br>
              <a:rPr lang="en-US" sz="2900" b="1" dirty="0">
                <a:sym typeface="Helvetica Neue"/>
              </a:rPr>
            </a:br>
            <a:r>
              <a:rPr dirty="0"/>
              <a:t>Dott. </a:t>
            </a:r>
            <a:r>
              <a:rPr lang="en-US" sz="2900" b="1" dirty="0">
                <a:sym typeface="Helvetica Neue"/>
              </a:rPr>
              <a:t>Antonio Trovato</a:t>
            </a:r>
            <a:endParaRPr dirty="0"/>
          </a:p>
        </p:txBody>
      </p:sp>
      <p:sp>
        <p:nvSpPr>
          <p:cNvPr id="203" name="Corso di Laurea (Magistrale) in Informatica"/>
          <p:cNvSpPr txBox="1"/>
          <p:nvPr/>
        </p:nvSpPr>
        <p:spPr>
          <a:xfrm>
            <a:off x="2376032" y="1518909"/>
            <a:ext cx="8252736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3419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303030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en-US" sz="2000" dirty="0"/>
              <a:t>Master's Degree in Computer Science</a:t>
            </a:r>
            <a:endParaRPr sz="2000" dirty="0"/>
          </a:p>
        </p:txBody>
      </p:sp>
      <p:pic>
        <p:nvPicPr>
          <p:cNvPr id="204" name="linkedin(1).png" descr="linkedin(1)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90626-982A-123A-11F2-9544E3D0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394C04B7-A419-B25C-0DDF-B8D7C031C427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96AD8709-BFDC-D1F7-4366-E43E3EF75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F465E688-62F0-528E-8D19-294B4E90A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2474420A-541D-F8DD-0F8B-51D39CF1F777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961AE833-E37E-685B-A916-D879FBF3FE3F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FB0CE2BE-A841-E063-049B-5274BEDE0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977D8D41-1C4E-A2A8-C717-0C81F04F7F04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B6DE0B71-6F33-E34B-5C27-F60A869EE30E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A0827985-85F0-ADCE-DD88-36CA1E28C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3EFA2241-C789-5912-B284-181706C10644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CAC079A4-CDCC-B75A-6A08-CF664A23FFB1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7F0F6D97-7017-E8FF-1896-2F80A1462B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E6612AD3-F964-632D-5932-04E3840250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2C373BC5-EAA5-2070-C8C8-2000F4E75321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DA359FF5-543F-3995-FA03-15910827D3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6E07B59D-61FF-F7DB-C8CC-6042608ADB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F9D258-BD88-436D-229D-F972BCA44DD6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What are Microbenchmarks?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3E89CC-408B-EDDD-7627-4DA8FBFAAA84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1837439" y="2272490"/>
            <a:ext cx="5640257" cy="56402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891B51-8CDA-7878-45A2-5921C5FEB38C}"/>
              </a:ext>
            </a:extLst>
          </p:cNvPr>
          <p:cNvSpPr txBox="1"/>
          <p:nvPr/>
        </p:nvSpPr>
        <p:spPr>
          <a:xfrm>
            <a:off x="983157" y="2689500"/>
            <a:ext cx="11753347" cy="3406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Tests that measure the performance of tiny, isolated pieces of code (like a single Java method), rather than an entire software system.</a:t>
            </a:r>
          </a:p>
          <a:p>
            <a:r>
              <a:rPr lang="en-US" dirty="0"/>
              <a:t>To measure execution time or throughput at the microsecond or nanosecond level.</a:t>
            </a:r>
          </a:p>
          <a:p>
            <a:r>
              <a:rPr lang="en-US" dirty="0"/>
              <a:t>They act as a defense mechanism to catch performance regressions.</a:t>
            </a:r>
          </a:p>
        </p:txBody>
      </p:sp>
    </p:spTree>
    <p:extLst>
      <p:ext uri="{BB962C8B-B14F-4D97-AF65-F5344CB8AC3E}">
        <p14:creationId xmlns:p14="http://schemas.microsoft.com/office/powerpoint/2010/main" val="685612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1F6CC-0CA1-C4AD-A18D-7F1F05A6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DA594A44-E7C8-E832-20EC-DF1E9BE9AF7E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0298372E-BAF7-032E-1039-66D58487D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D126C041-B29F-EAD7-08E6-3B387AE73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9206B34C-BC01-4F8F-75B3-22B6B03FB6BC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33272DC7-F4D6-6826-C291-F3375EA9D287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81849A38-1C80-0D15-E256-6FBC48007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62EEF804-BE30-65B7-8A5C-616FB402A56A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1B89EC07-2914-A7E2-8EEC-0FE60371F390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1FD317EA-247F-01E2-FF2F-9CEA6676E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8497B0CA-47BC-6BFD-E80C-EC3B6B26EFF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24049EB8-8F60-797B-0087-62C8BE2BC08F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0D2BD493-BC2C-2AB6-60A8-3D5697D9C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867DEE78-08F5-9E91-6C7E-D59682E3D7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34AED2FC-24D3-AD27-67D9-06F98E11DC77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B94DDE82-56BB-9D50-5608-8FD4C194A87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FE69147A-35DA-3902-A605-9E99D60CE0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119305-2151-63DA-9416-C746AE22A62D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6289124" y="2734019"/>
            <a:ext cx="5605244" cy="56052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0A7B28-2BDD-245E-EC06-0B399EEF4EE7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What are Microbenchmarks?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52E8D-FBD7-2673-E369-5732364B7D98}"/>
              </a:ext>
            </a:extLst>
          </p:cNvPr>
          <p:cNvSpPr txBox="1"/>
          <p:nvPr/>
        </p:nvSpPr>
        <p:spPr>
          <a:xfrm>
            <a:off x="983157" y="2689500"/>
            <a:ext cx="11753347" cy="3406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Tests that measure the performance of tiny, isolated pieces of code (like a single Java method), rather than an entire software system.</a:t>
            </a:r>
          </a:p>
          <a:p>
            <a:r>
              <a:rPr lang="en-US" dirty="0"/>
              <a:t>To measure execution time or throughput at the microsecond or nanosecond level.</a:t>
            </a:r>
          </a:p>
          <a:p>
            <a:r>
              <a:rPr lang="en-US" dirty="0"/>
              <a:t>They act as a defense mechanism to catch performance regressions.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22FD5-39E1-CE89-8B0C-3BA9E8AF9076}"/>
              </a:ext>
            </a:extLst>
          </p:cNvPr>
          <p:cNvSpPr txBox="1"/>
          <p:nvPr/>
        </p:nvSpPr>
        <p:spPr>
          <a:xfrm>
            <a:off x="1110432" y="6375119"/>
            <a:ext cx="11349194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Performance Regressions: </a:t>
            </a:r>
            <a:r>
              <a:rPr lang="en-US" dirty="0"/>
              <a:t>Unintended slowdowns or memory degradations caused when a developer introduces new code into a project.</a:t>
            </a:r>
          </a:p>
        </p:txBody>
      </p:sp>
    </p:spTree>
    <p:extLst>
      <p:ext uri="{BB962C8B-B14F-4D97-AF65-F5344CB8AC3E}">
        <p14:creationId xmlns:p14="http://schemas.microsoft.com/office/powerpoint/2010/main" val="9552625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EF091-2351-4BE7-114F-CFBF341A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7D84E39C-3A2E-1E64-79A3-3906B3B76235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E80F2070-5E62-FFCD-F278-9DF991187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9F0326E5-4E01-FFD1-FE6A-03A14C12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BC4852E4-74D6-8882-1200-E3EEF3BEC5B5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FADDF3C3-F402-45FC-9C9C-1FB258C3B580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E0E26966-0EE3-F653-EB83-B5585D4FC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6810A978-655E-5A2C-50BD-A2484D105D41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29145F5E-BAD0-997B-2A3B-85ECE7B4C5A3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8ACA1CBE-2AE6-C4EF-D305-F7E9E918D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6A505694-DEEF-2031-DACF-70109D1999B8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248E917E-FC60-2845-88D3-CDC9E49589B7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39276595-1E55-09CC-0935-4DD26ED989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501F6D17-1BF3-234A-AEA9-AE52E6B731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C24898CA-9978-64D0-4CC5-A5274942EBED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FE440E70-8863-44F1-37F2-BD04785F2FE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341A0499-08D5-6C37-39EE-F47CBD3F65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EE5C98-C5CA-8900-72FE-EDAAB99C0B92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The Challenges of </a:t>
            </a:r>
            <a:r>
              <a:rPr lang="en-US" b="1" dirty="0" err="1"/>
              <a:t>Microbenchmarking</a:t>
            </a:r>
            <a:endParaRPr lang="en-US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0C7E655-6CB6-AD21-CBF9-895BE365D7F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 rot="2435333">
            <a:off x="2248774" y="2143923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DDF95-730E-8E57-2224-B9249C8A92FB}"/>
              </a:ext>
            </a:extLst>
          </p:cNvPr>
          <p:cNvSpPr txBox="1"/>
          <p:nvPr/>
        </p:nvSpPr>
        <p:spPr>
          <a:xfrm>
            <a:off x="983157" y="2536842"/>
            <a:ext cx="1175334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Writing microbenchmarks manually is incredibly difficult due to the nature of modern Java Virtual Machines (JVMs)</a:t>
            </a:r>
          </a:p>
        </p:txBody>
      </p:sp>
    </p:spTree>
    <p:extLst>
      <p:ext uri="{BB962C8B-B14F-4D97-AF65-F5344CB8AC3E}">
        <p14:creationId xmlns:p14="http://schemas.microsoft.com/office/powerpoint/2010/main" val="375163174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19E7A0-A8D9-4FDC-5EE3-889894F6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8D0D8A79-597D-29E7-E274-52594510DBD3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CABFC2E3-A0AC-6985-035C-741CBF0E3C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F74AD22D-944B-E513-2E9C-72273DADE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F0F48261-152A-A610-7987-54BF765B9BAB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4EF00D84-7DE3-23E3-308B-2DB18327FD75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E7FEF0B1-7D95-BA70-AD17-4252A0C7C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F8DE07A6-2A63-C3F8-6F4F-2A00E32A1796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331BE278-67D0-67C1-22DC-8B349AAB6068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117082E6-DCCA-45DE-A879-C1EA16363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20142451-46C3-C00A-D947-14E74B4F912D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13F6D96F-2875-E4AE-5FA2-74066AC7E749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74DFAB36-4382-ACDF-A100-B108ADDDF3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1E6B5054-EF8B-9993-99FC-18E6597D92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5686649B-84A2-BAC7-6D07-916AD6DD2860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E89F5AC4-6B0B-C330-91E3-25FDDD48C30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DA9C298C-61E2-F1F7-A389-98F26698AD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F7FAEC-31A3-E0B2-40D2-7145E81D6665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The Challenges of </a:t>
            </a:r>
            <a:r>
              <a:rPr lang="en-US" b="1" dirty="0" err="1"/>
              <a:t>Microbenchmarking</a:t>
            </a:r>
            <a:endParaRPr lang="en-US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DD5059D-A481-CCF6-BFE6-C09AEE2E403E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 rot="2435333">
            <a:off x="2248774" y="2143923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561CDC-D10B-4ABB-F511-251ADB031316}"/>
              </a:ext>
            </a:extLst>
          </p:cNvPr>
          <p:cNvSpPr txBox="1"/>
          <p:nvPr/>
        </p:nvSpPr>
        <p:spPr>
          <a:xfrm>
            <a:off x="983157" y="2536842"/>
            <a:ext cx="1175334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Writing microbenchmarks manually is incredibly difficult due to the nature of modern Java Virtual Machines (JVMs)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25CB4-F5C9-5720-A1E7-A7F83289F3D5}"/>
              </a:ext>
            </a:extLst>
          </p:cNvPr>
          <p:cNvSpPr txBox="1"/>
          <p:nvPr/>
        </p:nvSpPr>
        <p:spPr>
          <a:xfrm>
            <a:off x="3246581" y="4574508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Warmup &amp; Steady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CA6E39-46A8-865B-7206-C97A73F16A74}"/>
              </a:ext>
            </a:extLst>
          </p:cNvPr>
          <p:cNvSpPr txBox="1"/>
          <p:nvPr/>
        </p:nvSpPr>
        <p:spPr>
          <a:xfrm>
            <a:off x="1571886" y="5561959"/>
            <a:ext cx="10575887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dirty="0"/>
              <a:t>Java compilers (JIT) aggressively optimize code while it runs. Early executions are slow; later ones are fast. Finding the stable "steady state" to measure is complex.</a:t>
            </a:r>
          </a:p>
        </p:txBody>
      </p:sp>
      <p:pic>
        <p:nvPicPr>
          <p:cNvPr id="19" name="Picture 2" descr="Problem - Free business and finance icons">
            <a:extLst>
              <a:ext uri="{FF2B5EF4-FFF2-40B4-BE49-F238E27FC236}">
                <a16:creationId xmlns:a16="http://schemas.microsoft.com/office/drawing/2014/main" id="{0A2961AC-51F5-9201-9ED2-A57A6AE66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40572" y="4052216"/>
            <a:ext cx="930667" cy="91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36190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B7E26-4E8D-07F1-90F2-E269B78D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8A5D35A4-F7B4-D083-5654-C4531E4E74ED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400313C4-E70A-8D4B-7CE8-F6D89FBEBA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767D71CF-9AB1-F59D-3AA5-16686B3A2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051F9439-4E3E-B58C-FDC5-2B82AD01743C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97D53A44-EC58-2437-1B76-DD2A0C950B89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3512FB36-FE23-9522-CD4C-EF1F1955D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17E26E6F-4923-1C17-C20E-17B22D1DBE49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74DB104B-5CDF-F24C-A44F-B673A6C679BA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B0F0BCED-1074-B694-E4EB-ECD90AAD1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B0484F4F-FEF4-7A26-AAA2-7F45A069D5C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1558DF62-B8E6-8CA7-731F-8915A24AB10D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05A8BE25-27D6-FB39-4592-DE96CEBFA7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90137EAD-7DD6-73E1-8379-BC2D2ACFEF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28D2947E-6013-4338-31D1-558279942130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84178ADF-8A7D-08E1-E835-333AD1FDBBE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9AA90CA1-E7D7-77EA-FE9B-E55FD6877D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337959-4A87-3D96-685B-1AAE151A0EBC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The Challenges of </a:t>
            </a:r>
            <a:r>
              <a:rPr lang="en-US" b="1" dirty="0" err="1"/>
              <a:t>Microbenchmarking</a:t>
            </a:r>
            <a:endParaRPr lang="en-US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DCA7022-B7A8-F0BB-2DD4-CB8FAF7D2789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 rot="2435333">
            <a:off x="2248774" y="2143923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987FE2-D96A-782D-1C99-46790D4BE51E}"/>
              </a:ext>
            </a:extLst>
          </p:cNvPr>
          <p:cNvSpPr txBox="1"/>
          <p:nvPr/>
        </p:nvSpPr>
        <p:spPr>
          <a:xfrm>
            <a:off x="983157" y="2536842"/>
            <a:ext cx="1175334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Writing microbenchmarks manually is incredibly difficult due to the nature of modern Java Virtual Machines (JVMs)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7AB4-52F3-8A52-608D-9131519281A7}"/>
              </a:ext>
            </a:extLst>
          </p:cNvPr>
          <p:cNvSpPr txBox="1"/>
          <p:nvPr/>
        </p:nvSpPr>
        <p:spPr>
          <a:xfrm>
            <a:off x="3246581" y="4574508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Dead Code Elimination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1A173-53BB-5127-831E-E62825136A32}"/>
              </a:ext>
            </a:extLst>
          </p:cNvPr>
          <p:cNvSpPr txBox="1"/>
          <p:nvPr/>
        </p:nvSpPr>
        <p:spPr>
          <a:xfrm>
            <a:off x="1571886" y="5561959"/>
            <a:ext cx="10575887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dirty="0"/>
              <a:t>Modern compilers are very smart. If your benchmark calculates a value but doesn't print or return it, the compiler deletes the code to save time, giving fake "zero nanosecond" results.</a:t>
            </a:r>
          </a:p>
        </p:txBody>
      </p:sp>
      <p:pic>
        <p:nvPicPr>
          <p:cNvPr id="2" name="Picture 2" descr="Problem - Free business and finance icons">
            <a:extLst>
              <a:ext uri="{FF2B5EF4-FFF2-40B4-BE49-F238E27FC236}">
                <a16:creationId xmlns:a16="http://schemas.microsoft.com/office/drawing/2014/main" id="{5FB4B299-E7FB-0749-DDC8-F6D1FD3F4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683" y="3939792"/>
            <a:ext cx="923330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1499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4FF98-F250-0EAE-98C8-77B1311E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D6606537-945E-F8AC-A4BD-BBDB7A782B1B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81AACCD7-8131-49D0-9B4F-1050F3B44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7254A976-5825-A205-864B-84D69FEF5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9B0FA64D-E591-10C9-3679-339C564832B7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0F46C82E-F61A-583F-4BF2-D9BD067B98C5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5CB65F5B-1A69-E5A7-8DCE-C7ADE0B6F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FC319893-D819-E06D-B82C-6BD20EE6B038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C450CC5F-AF85-9414-15FE-C649DEAAEB3B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2791194C-03F0-0A51-F248-A923CE375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57B45CC5-5EE3-D7A7-79AF-309E314D9E80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0B07A0D8-30C1-DACB-F7BC-B7A963BEA370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DD864E68-4CC5-BE94-1C8F-8A2BAD1533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F8B432EB-314D-E946-3B9F-6DE7C3F609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7790C563-8E65-CFBF-CEF5-2B09B61BBE99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072D89F4-7C76-25D3-9EB0-FD7929C6EEE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7B32B1F5-5E63-7B25-6A5E-46815D125B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EA8262-9537-F7F4-CB3B-E79DAB855063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The Challenges of </a:t>
            </a:r>
            <a:r>
              <a:rPr lang="en-US" b="1" dirty="0" err="1"/>
              <a:t>Microbenchmarking</a:t>
            </a:r>
            <a:endParaRPr lang="en-US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ED0923B-466A-C3E4-AEDF-6230C35FE096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 rot="2435333">
            <a:off x="2248774" y="2143923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A16899-A761-472D-E462-022AFEB50ED3}"/>
              </a:ext>
            </a:extLst>
          </p:cNvPr>
          <p:cNvSpPr txBox="1"/>
          <p:nvPr/>
        </p:nvSpPr>
        <p:spPr>
          <a:xfrm>
            <a:off x="983157" y="2536842"/>
            <a:ext cx="1175334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Writing microbenchmarks manually is incredibly difficult due to the nature of modern Java Virtual Machines (JVMs)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88CDA-E858-562E-8113-022932B9E5AC}"/>
              </a:ext>
            </a:extLst>
          </p:cNvPr>
          <p:cNvSpPr txBox="1"/>
          <p:nvPr/>
        </p:nvSpPr>
        <p:spPr>
          <a:xfrm>
            <a:off x="3246581" y="4574508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Environmental Noise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F8EFBD-4449-C9F4-D5A0-0298572F53AC}"/>
              </a:ext>
            </a:extLst>
          </p:cNvPr>
          <p:cNvSpPr txBox="1"/>
          <p:nvPr/>
        </p:nvSpPr>
        <p:spPr>
          <a:xfrm>
            <a:off x="1571886" y="5561959"/>
            <a:ext cx="1057588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dirty="0"/>
              <a:t>Background OS processes, CPU caching, and hyper-threading can easily corrupt the nanosecond measurements.</a:t>
            </a:r>
          </a:p>
        </p:txBody>
      </p:sp>
      <p:pic>
        <p:nvPicPr>
          <p:cNvPr id="2" name="Picture 2" descr="Problem - Free business and finance icons">
            <a:extLst>
              <a:ext uri="{FF2B5EF4-FFF2-40B4-BE49-F238E27FC236}">
                <a16:creationId xmlns:a16="http://schemas.microsoft.com/office/drawing/2014/main" id="{943CCCD5-9850-304E-40C7-F33D37228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39890">
            <a:off x="8538511" y="4581393"/>
            <a:ext cx="767133" cy="76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8486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8EB52-A705-EC13-A798-9C8E3280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8150812B-875D-9DC0-75BC-B1428343EC4A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B1F34E5C-6CCD-DA13-24CC-21ACB21B7E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B6D049B1-8D4A-78BB-C08F-3A4BC8267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922333D6-3C56-6E35-AE40-B8974C6F1F64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C9F3F30E-9547-F9C0-D33D-A04B49189CD1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A4BE962A-4563-B3E3-2CFA-EEF4BDE33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95A49214-082D-6D80-8F86-F87BEF323EB9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83C87EEA-6751-1AA7-4884-5E28B7461216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EF96CF59-1D4E-86BD-DC72-A9C09502D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FF4325B3-C2AB-AF9E-32EB-4B1A885064E7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71599858-2147-1E0F-C4C4-5C253AE6FAE5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D415F685-E489-96AC-8EF6-F662080625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8102E17F-7F90-89BE-F4E1-D8548F8C86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F0FE7D82-13E9-71B2-94E9-FFEAD235383F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7300F8C4-B163-3CF6-38C6-450F4EFB0BC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D0587A66-129A-DB7E-3AEB-4ABD80DE9B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DE9B72-763C-2613-1842-7A988591C2D3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JMH Mechanics &amp; The LLM Opportunity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A35EF3E-F34C-9E23-B410-231C3713E6C5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7196267" y="3685755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7EC061-14D3-5E92-D5CC-283C61DB4B8E}"/>
              </a:ext>
            </a:extLst>
          </p:cNvPr>
          <p:cNvSpPr txBox="1"/>
          <p:nvPr/>
        </p:nvSpPr>
        <p:spPr>
          <a:xfrm>
            <a:off x="983157" y="2536842"/>
            <a:ext cx="11753347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The Standard Tool:</a:t>
            </a:r>
            <a:r>
              <a:rPr lang="en-US" dirty="0"/>
              <a:t> Java Microbenchmark Harness (JMH)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25C7F8-FF69-05F5-2841-F7B219E3E1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2314" y="3496083"/>
            <a:ext cx="4000170" cy="400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255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C02FD-DB4C-0DFC-3B07-576D334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904BFDDE-8DAF-57F2-0631-9A456D6F5DB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083390CF-AA5B-73E8-A8D7-A08216A91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BBF72979-C61C-0543-D94F-A6118938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19CF65A5-5DBA-2E36-8FB1-BC54B08D4C51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FE9CCDEB-0BAD-4E90-4CF4-52FF98A3F058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D94C1F69-62DF-0B66-7A2F-3E6AACDB3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BE42F52D-7BB2-2616-440A-97F466EE7C38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E3715090-C371-137F-3380-AA548F943912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1973BF81-1AA9-0BE1-D6DD-AA5E8DD8D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A4098941-2F3D-2385-9D8B-7EABB3C217E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67B34ECA-7CFC-3316-435E-1F8CD55CC4D6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13654DF3-E4FE-568E-CE07-FF93D3B46D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CC772E9C-A715-B5BD-8DA5-F3BEADB641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D1394B21-4D4E-85BB-6F25-496ED8137494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A9335D56-BF42-0DB3-995E-D93705C700E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DF2641CA-3D1F-66DB-BEE3-3A6C2B564A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CA3626-7D23-FF11-25C7-A114EB3D9704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JMH Mechanics &amp; The LLM Opportunity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C88F838-5EF9-681B-0A75-5F9F01635B01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7196267" y="3685755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964CB4-04FD-C778-2B8D-9F411DD1027F}"/>
              </a:ext>
            </a:extLst>
          </p:cNvPr>
          <p:cNvSpPr txBox="1"/>
          <p:nvPr/>
        </p:nvSpPr>
        <p:spPr>
          <a:xfrm>
            <a:off x="983157" y="2536842"/>
            <a:ext cx="11753347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The Standard Tool:</a:t>
            </a:r>
            <a:r>
              <a:rPr lang="en-US" dirty="0"/>
              <a:t> Java Microbenchmark Harness (JMH)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6DCAE1-AD74-8962-7D5D-107F7309E1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612315" y="3532645"/>
            <a:ext cx="4066915" cy="40669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5DE006-19F0-29C1-90B9-80C5AB5CA238}"/>
              </a:ext>
            </a:extLst>
          </p:cNvPr>
          <p:cNvSpPr txBox="1"/>
          <p:nvPr/>
        </p:nvSpPr>
        <p:spPr>
          <a:xfrm>
            <a:off x="2513370" y="3844768"/>
            <a:ext cx="9581647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Warmup Iterations: JMH forces the code to run many times before measuring to ensure the steady state is reached.</a:t>
            </a:r>
          </a:p>
        </p:txBody>
      </p:sp>
    </p:spTree>
    <p:extLst>
      <p:ext uri="{BB962C8B-B14F-4D97-AF65-F5344CB8AC3E}">
        <p14:creationId xmlns:p14="http://schemas.microsoft.com/office/powerpoint/2010/main" val="39968217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C6159-5F6E-C752-DE80-72822F58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6D5CD823-4AAF-557F-5CDB-4BEC9DD1DAA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8B0B6C34-53B9-14B4-29A8-274BF6108C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449C0F6A-3507-D4EE-9A77-951407248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71E45466-A2B3-CBF0-F7C3-B5279C8F0998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D7107EE5-C097-97E6-451A-3ECA5918A08F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088F475C-D310-0361-0DA4-FF709CA0B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9F303AA8-F459-74BD-E1AA-2E83BF547E4E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FA7D68AD-C0C4-739A-92E5-CFE8D9B557EE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F1B636B7-4533-9013-0A33-CDE30AA07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8277ADAD-D523-2A36-726B-83F9B0017F27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85334625-330C-3437-FEC3-2AFCEA781725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C6FE58E4-731B-3CBD-D02F-6076D6E58B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1410FB80-7D66-1086-F3FE-D59ACC4EDB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C6833E17-DD9D-0EB5-8409-4218799F5F3F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B88F1B77-1024-3F22-0F5B-C0B99FA7CB3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5C498A36-F955-5224-86A8-6E61C0A17F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91E281-6DC8-2DDA-C203-CC686E594035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JMH Mechanics &amp; The LLM Opportunity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CB6620A-839A-FCDA-DF96-6DDF91D706F1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7196267" y="3685755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81F4A-3CD7-5367-A3BB-A77518F8F22E}"/>
              </a:ext>
            </a:extLst>
          </p:cNvPr>
          <p:cNvSpPr txBox="1"/>
          <p:nvPr/>
        </p:nvSpPr>
        <p:spPr>
          <a:xfrm>
            <a:off x="983157" y="2536842"/>
            <a:ext cx="11753347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The Standard Tool:</a:t>
            </a:r>
            <a:r>
              <a:rPr lang="en-US" dirty="0"/>
              <a:t> Java Microbenchmark Harness (JMH)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0A5882-F379-2615-CBBC-2383917D09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612315" y="3532645"/>
            <a:ext cx="4066915" cy="40669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2F0A9-BA20-C233-76D1-EDA0AAE3CC17}"/>
              </a:ext>
            </a:extLst>
          </p:cNvPr>
          <p:cNvSpPr txBox="1"/>
          <p:nvPr/>
        </p:nvSpPr>
        <p:spPr>
          <a:xfrm>
            <a:off x="2513370" y="3844768"/>
            <a:ext cx="9581647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Warmup Iterations: JMH forces the code to run many times before measuring to ensure the steady state is reached.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7086D-EF23-76A2-8DCD-A5E713A5A13E}"/>
              </a:ext>
            </a:extLst>
          </p:cNvPr>
          <p:cNvSpPr txBox="1"/>
          <p:nvPr/>
        </p:nvSpPr>
        <p:spPr>
          <a:xfrm>
            <a:off x="2513370" y="5427996"/>
            <a:ext cx="939076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The "Blackhole": A JMH tool that consumes outputs so the compiler cannot delete "dead code".</a:t>
            </a:r>
          </a:p>
        </p:txBody>
      </p:sp>
    </p:spTree>
    <p:extLst>
      <p:ext uri="{BB962C8B-B14F-4D97-AF65-F5344CB8AC3E}">
        <p14:creationId xmlns:p14="http://schemas.microsoft.com/office/powerpoint/2010/main" val="3186437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755D5-80FB-5509-BE40-F161A751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045214D0-2682-332A-615A-BE9C1C9F8863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2BAB9FE3-1550-6D16-82DE-7B748534E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4E8B5790-2C72-E08E-2419-B3B752C25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C2EFD812-739F-CE89-3537-FDE02950A8ED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B68E0CD0-D401-AE74-B0DB-92D364F825E3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332DAC03-6C09-D3B0-5821-2083A8428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F502B47A-2CA2-3301-D848-4C5F8820C88B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230FDF4C-6604-AB62-F85B-5FABBB11BA44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48BED406-D151-2042-C467-7D2837A8F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6B3BDA48-5540-7778-FFEF-5938D2F90A5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4AFF9E8A-CDBC-DF39-DAF5-1455A357AE5C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F75B61AB-A7A2-A380-FF2A-6EA7DDAB6F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15E9E3A9-8F7D-B2CD-1720-EDACCF67E0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51491AFC-F2CF-4980-D182-46AF907FA694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F41A3E9E-A5FF-9659-75E6-3F56DC49995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BD03AACA-3AC9-41C1-9DCB-12A66EC3BE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4CD3B0-F422-7F9D-F60B-C90AD7724DE6}"/>
              </a:ext>
            </a:extLst>
          </p:cNvPr>
          <p:cNvSpPr txBox="1"/>
          <p:nvPr/>
        </p:nvSpPr>
        <p:spPr>
          <a:xfrm>
            <a:off x="1851613" y="1359980"/>
            <a:ext cx="9301573" cy="928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b="1" dirty="0"/>
              <a:t>JMH Mechanics &amp; The LLM Opportunity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54CE1C-DEC7-8F4C-D404-9A8E8404408B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5000"/>
          </a:blip>
          <a:stretch>
            <a:fillRect/>
          </a:stretch>
        </p:blipFill>
        <p:spPr>
          <a:xfrm>
            <a:off x="7196267" y="3685755"/>
            <a:ext cx="4707865" cy="4707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3351BC-6905-D5A6-08B7-21C9549ADAF0}"/>
              </a:ext>
            </a:extLst>
          </p:cNvPr>
          <p:cNvSpPr txBox="1"/>
          <p:nvPr/>
        </p:nvSpPr>
        <p:spPr>
          <a:xfrm>
            <a:off x="983157" y="2536842"/>
            <a:ext cx="11753347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The Standard Tool:</a:t>
            </a:r>
            <a:r>
              <a:rPr lang="en-US" dirty="0"/>
              <a:t> Java Microbenchmark Harness (JMH)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791D14-F1E8-FF80-B719-89EFCC78E6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612315" y="3532645"/>
            <a:ext cx="4066915" cy="40669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832513-5C63-49EE-B2E4-94B5016FA3C3}"/>
              </a:ext>
            </a:extLst>
          </p:cNvPr>
          <p:cNvSpPr txBox="1"/>
          <p:nvPr/>
        </p:nvSpPr>
        <p:spPr>
          <a:xfrm>
            <a:off x="2513370" y="3844768"/>
            <a:ext cx="9581647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Warmup Iterations: JMH forces the code to run many times before measuring to ensure the steady state is reached.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26BDA-93E0-13F1-7190-264A0AB596B0}"/>
              </a:ext>
            </a:extLst>
          </p:cNvPr>
          <p:cNvSpPr txBox="1"/>
          <p:nvPr/>
        </p:nvSpPr>
        <p:spPr>
          <a:xfrm>
            <a:off x="2513370" y="5427996"/>
            <a:ext cx="939076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The "Blackhole": A JMH tool that consumes outputs so the compiler cannot delete "dead code".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97A10-D1AC-0251-8A81-7955CFC5A5BE}"/>
              </a:ext>
            </a:extLst>
          </p:cNvPr>
          <p:cNvSpPr txBox="1"/>
          <p:nvPr/>
        </p:nvSpPr>
        <p:spPr>
          <a:xfrm>
            <a:off x="2513368" y="6577031"/>
            <a:ext cx="958164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JVM Forking: Spawns completely new Virtual Machines for different tests to isolate memory.</a:t>
            </a:r>
          </a:p>
        </p:txBody>
      </p:sp>
    </p:spTree>
    <p:extLst>
      <p:ext uri="{BB962C8B-B14F-4D97-AF65-F5344CB8AC3E}">
        <p14:creationId xmlns:p14="http://schemas.microsoft.com/office/powerpoint/2010/main" val="371253517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C5273-7B93-6C8D-B95B-64FEDFB5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EF59F76D-5A05-CC17-E562-DA35E65ED517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CDE39A9F-3F30-C953-69A1-2743B78EAD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07824C10-B4AA-3B03-C323-5EFB8D85B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F171722E-26AC-5056-BEE8-551C1D28BB79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EDD9039F-3794-14B7-1966-5809D2E4DA2C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1EAE994D-F0E9-1E79-46CE-C9951DBE6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9083271C-8B5E-EB8E-DE61-12AC320C6118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66EBAB5E-8C54-B860-9A1E-DC1769805766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B0F1D0C3-1B62-15EA-CBC5-947E06530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E513F359-1D3D-3172-C73F-DF6F0ECA88D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651E2A79-E2D3-C963-71A9-2BD2132C7ECE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43F0CB2A-597C-57E0-7ADB-B1A5E52BE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D1506C23-2BE5-68D6-056D-F71E42C739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F5495EA6-A817-63BB-11FA-900135B41AAC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51AC6D7E-0574-A8CA-0F76-43A785E2FE9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E801A641-2079-0CDF-0C77-A709D1C500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B52B824-EB84-3816-AF3D-1BAFB0E78A0B}"/>
              </a:ext>
            </a:extLst>
          </p:cNvPr>
          <p:cNvSpPr txBox="1"/>
          <p:nvPr/>
        </p:nvSpPr>
        <p:spPr>
          <a:xfrm>
            <a:off x="2419480" y="2589973"/>
            <a:ext cx="1059224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The Challenge: </a:t>
            </a:r>
            <a:r>
              <a:rPr lang="en-US" dirty="0"/>
              <a:t>Writing good microbenchmarks is highly complex, time-consuming, and prone to measurement errors.</a:t>
            </a:r>
          </a:p>
        </p:txBody>
      </p:sp>
      <p:pic>
        <p:nvPicPr>
          <p:cNvPr id="2050" name="Picture 2" descr="Problem - Free business and finance icons">
            <a:extLst>
              <a:ext uri="{FF2B5EF4-FFF2-40B4-BE49-F238E27FC236}">
                <a16:creationId xmlns:a16="http://schemas.microsoft.com/office/drawing/2014/main" id="{AA37DF13-0640-AA55-C1A0-4E2E936BB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19" y="1769622"/>
            <a:ext cx="2548891" cy="254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22610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F706F-81BB-C680-ADBB-4276AA22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17523B2B-0387-4B77-9FFB-50F684EBB20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93A74C0C-7E2F-FEED-0F6C-45F1FB19B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E33BDFD5-8BE8-A514-918C-A45F5FC3E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D55AAEB5-869B-0D82-D1DA-A975071EFFB0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B92F0F0B-985D-38A5-CA25-FC0E5CA92615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490A4676-EA79-95FD-D251-34A7C9F08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EEEEEA42-DA32-521C-03CE-930FB9D265AB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4CCC7FB8-279C-095D-90EA-3DDE425EC74C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07E69045-8729-691C-3834-FF13E6DAC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A6819C5C-3631-BC41-C13C-F3314F2A0CEB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DCF1B72F-C540-BA6E-B19B-01D5E2685638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3CE97DA4-F310-1092-B431-0F614784AD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21C6A54F-0CB0-B231-0095-54A73B40F0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1E8B2043-2850-A1D2-DA6B-B90DF3CE5A32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89C72EB1-39C7-047E-B122-86DC044927F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2317437D-4BF0-9F73-AA56-EE35A6F1D4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7306B1-5AD2-4702-6D5D-94E5CE64E36C}"/>
              </a:ext>
            </a:extLst>
          </p:cNvPr>
          <p:cNvSpPr txBox="1"/>
          <p:nvPr/>
        </p:nvSpPr>
        <p:spPr>
          <a:xfrm>
            <a:off x="2419480" y="2589973"/>
            <a:ext cx="1059224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The Challenge: </a:t>
            </a:r>
            <a:r>
              <a:rPr lang="en-US" dirty="0"/>
              <a:t>Writing good microbenchmarks is highly complex, time-consuming, and prone to measurement errors.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88AD58-006A-D692-85CA-0BE8CF1231DB}"/>
              </a:ext>
            </a:extLst>
          </p:cNvPr>
          <p:cNvSpPr txBox="1"/>
          <p:nvPr/>
        </p:nvSpPr>
        <p:spPr>
          <a:xfrm>
            <a:off x="983157" y="6680463"/>
            <a:ext cx="1059224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The Opportunity</a:t>
            </a:r>
            <a:br>
              <a:rPr lang="en-US" b="1" dirty="0"/>
            </a:br>
            <a:r>
              <a:rPr lang="en-US" dirty="0"/>
              <a:t>Large Language Models (LLMs) can generate code rapidly.</a:t>
            </a:r>
          </a:p>
        </p:txBody>
      </p:sp>
      <p:pic>
        <p:nvPicPr>
          <p:cNvPr id="2050" name="Picture 2" descr="Problem - Free business and finance icons">
            <a:extLst>
              <a:ext uri="{FF2B5EF4-FFF2-40B4-BE49-F238E27FC236}">
                <a16:creationId xmlns:a16="http://schemas.microsoft.com/office/drawing/2014/main" id="{2DDE3EF6-0A34-184E-1D24-D8970C286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19" y="1769622"/>
            <a:ext cx="2548891" cy="254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olution - Free electronics icons">
            <a:extLst>
              <a:ext uri="{FF2B5EF4-FFF2-40B4-BE49-F238E27FC236}">
                <a16:creationId xmlns:a16="http://schemas.microsoft.com/office/drawing/2014/main" id="{D93CFDAD-E144-93AA-7B29-F207FBB9C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291" y="4081560"/>
            <a:ext cx="2392218" cy="239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62718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9C7BB-9FFD-F6B0-CE84-F4A45D09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2154BA98-B830-D318-49BC-157279C3153B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58389429-D9D8-B2C2-EE74-6560BCA1D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 &amp; Motivation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BEE37676-F647-8D86-E7F4-BA6F68C34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CDD24835-B9B1-97D2-8DD0-F81D09CABC86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5345AB80-6BA6-0793-DA85-7ED639C32BDE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C5EA42D2-B27C-2037-5A6C-A2295B9FA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CCD1879A-2268-23FF-0D8E-CC5600931309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0A4BD86D-EA59-F0FF-B4B9-21D18FA6DC6A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457DD938-C2C2-1A70-EE80-47327A58D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820CE273-B22A-BE78-6B88-E398B43660F9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603AEF60-E36D-0F3B-D152-D5473177F898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EE7392D4-E042-214B-16B7-80F6872ACC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9B61ECF5-FEC6-62AF-93FD-2B5ED01335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9DD3D464-AB1F-AD5C-FD00-6DD11787D287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4E29473D-8A44-8B60-5164-E60F419A992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A2540EF2-32C0-B2FA-9705-DBE4751244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3E649A-4BB8-2061-11E4-127215B58FE3}"/>
              </a:ext>
            </a:extLst>
          </p:cNvPr>
          <p:cNvSpPr txBox="1"/>
          <p:nvPr/>
        </p:nvSpPr>
        <p:spPr>
          <a:xfrm>
            <a:off x="1662167" y="4415135"/>
            <a:ext cx="969306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But can we trust AI-generated tests for precise performance measurements?</a:t>
            </a:r>
          </a:p>
        </p:txBody>
      </p:sp>
    </p:spTree>
    <p:extLst>
      <p:ext uri="{BB962C8B-B14F-4D97-AF65-F5344CB8AC3E}">
        <p14:creationId xmlns:p14="http://schemas.microsoft.com/office/powerpoint/2010/main" val="215530193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454A8-5353-F357-9AF5-638798C0D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061DD25B-84C2-B791-8D22-EC36E0508C78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9320C0E3-5E50-B433-FED4-D21C49CDE6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Objective and Case Study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4A5B2D59-2176-A9AE-50BD-43712BA0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3B363576-B743-51A2-88E7-C92298BD3C01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93D7AE01-BAD8-2E58-D464-7AFF29DC138E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A6FF0994-0A02-725A-DE48-B99B1228D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671E2B4C-C14B-7A66-3D82-AC76B87E3460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37355B61-6160-A779-717D-0D4B0ECE4A2B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A8EDDA52-916E-EB24-3456-92F6ACF56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2443517D-70A0-F8EE-3AE1-8F44DCE08E31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87CA663F-8447-845A-FB5B-4C012DA2B2F7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F6D786AE-C1CB-AF86-A63D-744E35623B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8B56233A-A96A-AE8A-ACD7-FAE8525073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1BA2ACF7-A846-F85B-560E-474A6EB29A44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29D4A049-AA37-0E1F-0FD7-4792AE328FD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711517A3-7CCF-48AA-D42D-E837CDB2D3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31B2CF-8596-8A1F-9BCA-6E4E798A9C61}"/>
              </a:ext>
            </a:extLst>
          </p:cNvPr>
          <p:cNvSpPr txBox="1"/>
          <p:nvPr/>
        </p:nvSpPr>
        <p:spPr>
          <a:xfrm>
            <a:off x="602224" y="1879238"/>
            <a:ext cx="11995256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Main Goal</a:t>
            </a:r>
            <a:br>
              <a:rPr lang="en-US" b="1" dirty="0"/>
            </a:br>
            <a:r>
              <a:rPr lang="en-US" dirty="0"/>
              <a:t>Statistically compare the efficacy of Human-Written vs AI-Generated microbenchmarks in detecting performance regressions.</a:t>
            </a:r>
          </a:p>
        </p:txBody>
      </p:sp>
    </p:spTree>
    <p:extLst>
      <p:ext uri="{BB962C8B-B14F-4D97-AF65-F5344CB8AC3E}">
        <p14:creationId xmlns:p14="http://schemas.microsoft.com/office/powerpoint/2010/main" val="331915816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09F34-AF11-3100-BF37-279C8706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45EEC73B-E4ED-A852-FE53-BA72190EB94B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45894D3B-4CA9-89C3-E6FD-567E8C927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Objective and Case Study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91AF700C-45DB-A044-D0BC-5D5B5A23D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85A2DF11-28DB-C1D8-E4E6-A3FE7AFDB4A4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B0760091-3FD3-F154-819B-B7B33E272043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186C8696-7E4A-5261-CF02-DD68C6391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ACA95C50-4C1A-92D1-D137-A03D9EF83949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FE05C613-BC39-6D92-FBC4-AB302C7F98F8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88BEDC00-9A63-62E6-5FFA-B1DFD14A0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C109ADAC-079B-3F48-9325-397EB1399A0B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C784FEC6-8213-AC4A-822A-817CAA514F1F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B6AFA946-34F5-CF3C-4682-8CC095293C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AA15FD62-8023-2EB6-1209-9D76E2633B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DA0C1056-E3DC-2BFB-3162-7DA4BCC9E1F5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870E19C3-596E-A659-E657-FEAC3483D38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E3C04387-5E93-B562-F5DE-2D2D011AD1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1EC09D-DAC5-A65D-E32F-8E1385004177}"/>
              </a:ext>
            </a:extLst>
          </p:cNvPr>
          <p:cNvSpPr txBox="1"/>
          <p:nvPr/>
        </p:nvSpPr>
        <p:spPr>
          <a:xfrm>
            <a:off x="602224" y="1879238"/>
            <a:ext cx="11995256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Main Goal</a:t>
            </a:r>
            <a:br>
              <a:rPr lang="en-US" b="1" dirty="0"/>
            </a:br>
            <a:r>
              <a:rPr lang="en-US" dirty="0"/>
              <a:t>Statistically compare the efficacy of Human-Written vs AI-Generated microbenchmarks in detecting performance regressions.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D3F47-8342-F6C9-8B7D-DFE409BB176D}"/>
              </a:ext>
            </a:extLst>
          </p:cNvPr>
          <p:cNvSpPr txBox="1"/>
          <p:nvPr/>
        </p:nvSpPr>
        <p:spPr>
          <a:xfrm>
            <a:off x="504772" y="4428539"/>
            <a:ext cx="11995256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Subject System</a:t>
            </a:r>
            <a:br>
              <a:rPr lang="en-US" b="1" dirty="0"/>
            </a:br>
            <a:r>
              <a:rPr lang="en-US" dirty="0"/>
              <a:t>Apache Ignite (a popular, highly concurrent distributed database).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9623323-E661-791D-3A40-E789645D0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73" y="6105337"/>
            <a:ext cx="3970358" cy="175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12436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DD345-0682-03C3-E572-320DEFE52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8EF52D21-A4EF-F10F-C53D-863E060AB7CB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D38BAB4F-3B9C-1AEB-1BC8-4B7DDF7F5E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Objective and Case Study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FF0F8BE9-E25F-BCD0-C82A-9BB49C4CD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EC67E7DA-C010-3460-B927-633236BF8ECB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2F16BD75-6358-9585-6E9E-D825B4C31CE8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6C123CE3-2095-159F-67A7-7F0AB1B9D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4650F916-FF5B-767C-21D9-72C943829961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2D61D230-5E5D-C58B-C511-CC23DC2DA8D4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BADC879B-9121-A645-7286-211A11592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AC5AC78F-80AA-7FE9-4854-C725D80C229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C204D23F-7B6B-6149-0BDD-097E1951C37E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6223E380-9077-1687-EB33-5618FFFFF8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0D1F34A5-2FBF-DF64-CDA7-EAAD5CAA4B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61EB6D56-0200-4A33-1389-760846279312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3DF38537-6BB0-1B0F-3BDC-25921EDA4F5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446A3375-DCF7-69A9-8CA7-6322D72D89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57665B-DC77-2A3C-D516-29B4CC2251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4696" y="2573033"/>
            <a:ext cx="5375406" cy="28053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70DA3-E2A4-5B0F-DEE3-C01E1AC810B1}"/>
              </a:ext>
            </a:extLst>
          </p:cNvPr>
          <p:cNvSpPr txBox="1"/>
          <p:nvPr/>
        </p:nvSpPr>
        <p:spPr>
          <a:xfrm>
            <a:off x="895853" y="1892059"/>
            <a:ext cx="1301865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Evaluated Versions: </a:t>
            </a:r>
            <a:r>
              <a:rPr lang="en-US" dirty="0"/>
              <a:t>3 historical commits (v1.8.0, v2.0.0, v2.2.0).</a:t>
            </a:r>
          </a:p>
        </p:txBody>
      </p:sp>
    </p:spTree>
    <p:extLst>
      <p:ext uri="{BB962C8B-B14F-4D97-AF65-F5344CB8AC3E}">
        <p14:creationId xmlns:p14="http://schemas.microsoft.com/office/powerpoint/2010/main" val="164776960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F0EAA-7FEA-9332-B93F-F2106FAD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B132F8CB-07A9-C4A6-149B-E9C9F0E2C83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7536571B-64E5-C298-AF35-822E376C9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Objective and Case Study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4F00184E-4E40-D412-2823-33C7A94E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4F55D889-00CF-7000-DFB4-F0769554A2BB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9A428D9E-2E64-7EE0-3F03-99B5E69A3A13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7BA42FED-BA99-8214-54EA-BF253082B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A3C66438-9B7B-19A8-9C58-2A8AF8C5E844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549D8FF8-81CE-6BD5-D078-5AE2EBDDD6E4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D79549C2-406B-0F36-BF41-0665AABB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D0959905-3769-D66A-3171-3462807E6878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84C52E7B-BF9A-4E96-B892-B19E758B57F4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F175C6AB-7EC6-DF78-3120-AC6E297C5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91FC2FB9-C012-CF17-359D-E9E19ECF6A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239766A3-BC8A-2A8E-C2CE-05E276D3F064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0B8E532B-1EC0-AC91-ABED-6C10F449EC4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0D3039A3-3DDA-8EBE-B2F7-E40385A629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820B600-4FA7-FEA3-48EA-7333FC3DFF44}"/>
              </a:ext>
            </a:extLst>
          </p:cNvPr>
          <p:cNvSpPr txBox="1"/>
          <p:nvPr/>
        </p:nvSpPr>
        <p:spPr>
          <a:xfrm>
            <a:off x="2489591" y="5691716"/>
            <a:ext cx="8025615" cy="21698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Dataset 32 benchmarks in total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16 original Human-written benchmarks.</a:t>
            </a:r>
            <a:br>
              <a:rPr lang="en-US" dirty="0"/>
            </a:br>
            <a:r>
              <a:rPr lang="en-US" dirty="0"/>
              <a:t>16 equivalent AI-generated twin benchmarks.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73A98-6B14-C56A-AA02-B304159CFC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4696" y="2573033"/>
            <a:ext cx="5375406" cy="28053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82AA1F-5250-D2D8-3437-10CA63261E59}"/>
              </a:ext>
            </a:extLst>
          </p:cNvPr>
          <p:cNvSpPr txBox="1"/>
          <p:nvPr/>
        </p:nvSpPr>
        <p:spPr>
          <a:xfrm>
            <a:off x="895853" y="1892059"/>
            <a:ext cx="1301865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Evaluated Versions: </a:t>
            </a:r>
            <a:r>
              <a:rPr lang="en-US" dirty="0"/>
              <a:t>3 historical commits (v1.8.0, v2.0.0, v2.2.0).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1E3D26-9846-0518-E91D-CE21812DD006}"/>
              </a:ext>
            </a:extLst>
          </p:cNvPr>
          <p:cNvCxnSpPr>
            <a:cxnSpLocks/>
          </p:cNvCxnSpPr>
          <p:nvPr/>
        </p:nvCxnSpPr>
        <p:spPr>
          <a:xfrm flipV="1">
            <a:off x="3191241" y="3648793"/>
            <a:ext cx="545259" cy="12805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54949C-14B5-9595-71E7-AE2FC324BC55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14234" y="4293382"/>
            <a:ext cx="559602" cy="11014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91209F-D169-8AF5-07E7-26E281687076}"/>
              </a:ext>
            </a:extLst>
          </p:cNvPr>
          <p:cNvCxnSpPr>
            <a:cxnSpLocks/>
          </p:cNvCxnSpPr>
          <p:nvPr/>
        </p:nvCxnSpPr>
        <p:spPr>
          <a:xfrm>
            <a:off x="3191241" y="4876800"/>
            <a:ext cx="623455" cy="23108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49D270-1AE9-55C5-F096-65606A330460}"/>
              </a:ext>
            </a:extLst>
          </p:cNvPr>
          <p:cNvSpPr txBox="1"/>
          <p:nvPr/>
        </p:nvSpPr>
        <p:spPr>
          <a:xfrm>
            <a:off x="460643" y="3623968"/>
            <a:ext cx="2753591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2 benchmarks</a:t>
            </a:r>
            <a:br>
              <a:rPr lang="en-US" dirty="0"/>
            </a:br>
            <a:r>
              <a:rPr lang="en-US" dirty="0"/>
              <a:t>7 benchmarks</a:t>
            </a:r>
            <a:br>
              <a:rPr lang="en-US" dirty="0"/>
            </a:br>
            <a:r>
              <a:rPr lang="en-US" dirty="0"/>
              <a:t>7 benchmarks</a:t>
            </a:r>
          </a:p>
        </p:txBody>
      </p:sp>
    </p:spTree>
    <p:extLst>
      <p:ext uri="{BB962C8B-B14F-4D97-AF65-F5344CB8AC3E}">
        <p14:creationId xmlns:p14="http://schemas.microsoft.com/office/powerpoint/2010/main" val="13698672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A5076-FBCA-7BE2-D753-67CA87B1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657A8858-8385-CD4B-9076-376B629D040A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871AC84D-1FCD-3EB9-7C82-3F6C332267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Objective and Case Study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2A8C8EFE-4005-9CA4-9CE8-5F23FAB50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B24D3D36-F902-03EA-E812-33EA60CD845F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A876CEAA-3574-DB29-6A3F-2958130E9515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89D2BFB9-53A4-26E2-AE8D-FEE1B9429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6E60FD2A-5BA7-6CEA-4E70-5C0DFD6F8BDF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AD2764D0-8485-6ABE-DFF9-236291842C71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37FFCA35-2D81-9073-C675-BCC52895E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E8BCC2ED-2183-8BDB-2400-6517C7762C92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09D17A30-1A86-E45B-4CBF-09F0FCB172E1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1577D1D9-F4B9-EF49-6A31-DB5A5D9EDC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307DB3D2-02CE-AF3B-35DE-7925FD80EA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3C13A074-98FB-FA4C-1C80-F439643B9E48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DEA62C89-E74C-BDEC-65C2-F45412C8207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E6CE32C6-0C63-1C13-9321-02321C78FB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EBD8DA1-F472-C17A-3865-766FFF513136}"/>
              </a:ext>
            </a:extLst>
          </p:cNvPr>
          <p:cNvSpPr txBox="1"/>
          <p:nvPr/>
        </p:nvSpPr>
        <p:spPr>
          <a:xfrm>
            <a:off x="2489592" y="1418569"/>
            <a:ext cx="802561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Benchmarks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4D2860-B52E-BA9D-0C87-B005708263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3854" y="2489178"/>
            <a:ext cx="5052349" cy="55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0318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10C2B-E4FA-B146-8260-17EF0BEE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A683D681-A0D0-CB8B-EEA1-4A9496C1B283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71466725-AEBF-D44F-01A5-F4BCDDD949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680934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Prompt Engineering &amp; AI Benchmark Generation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222EF116-7B69-165B-9597-75AE3539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689ED31A-8F55-3B8B-14C6-09F7ED571245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18F3221B-5D20-208F-A4B7-88C93A290389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F5E89436-C66D-B9B1-EF75-30712BF8F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E7CCE4B0-1224-9BD0-3388-DC6D6A85FCE9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A4CFD77F-E4AF-00C7-D87F-235D7CB204E6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F628EF38-5CF3-E776-6952-52CDB876D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F969C208-9D8C-8145-4059-D502D2BB67B1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98D5AD7B-D0EC-5DE8-6196-E1F5963808E5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F2DD8C1E-78EA-252D-F7B0-DE3760C03B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FE11A3BF-6E51-1AEA-8C1A-967692FDE8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2E52C3B5-C3E2-7948-C53D-16B95C7D99BE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92164754-8643-33F2-D36D-9EB17037BE4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AF8C2803-459A-5F12-1547-D8978D25C5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ED17C3-236B-13B6-1223-679E6E352D3B}"/>
              </a:ext>
            </a:extLst>
          </p:cNvPr>
          <p:cNvSpPr txBox="1"/>
          <p:nvPr/>
        </p:nvSpPr>
        <p:spPr>
          <a:xfrm>
            <a:off x="31185" y="1588394"/>
            <a:ext cx="1294242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Approach</a:t>
            </a:r>
            <a:br>
              <a:rPr lang="en-US" b="1" dirty="0"/>
            </a:br>
            <a:r>
              <a:rPr lang="en-US" dirty="0"/>
              <a:t>" GPT-4 Functional Equivalence" but strict "Code Independence."</a:t>
            </a:r>
          </a:p>
        </p:txBody>
      </p:sp>
    </p:spTree>
    <p:extLst>
      <p:ext uri="{BB962C8B-B14F-4D97-AF65-F5344CB8AC3E}">
        <p14:creationId xmlns:p14="http://schemas.microsoft.com/office/powerpoint/2010/main" val="86262294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5E848-E1DA-1BBA-C741-BA653E32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8CB7B0F7-31E8-870F-F862-53E960E0C74B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D5DF8216-F620-9686-4293-EE8C5739BE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680934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Prompt Engineering &amp; AI Benchmark Generation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03D1154E-9462-9C98-3AF4-2D23A22B6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43E9368E-378A-5E91-3A0A-1A7133240F7D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ED2D638D-489B-0A7A-9D65-5B65F726323A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60C979AF-5A88-6136-107B-C463EFF2A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859FAD48-A061-3304-3B5C-BC53D68F45FE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1408634C-78D9-B096-7FC4-CD2FA0EAA477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A3E6ED65-9DAC-D338-370D-261BF0BF5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2D481E6B-5689-4097-DAD4-0940B890F594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72D49681-0633-301E-0F74-E3B1B37E9A12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58FB7DCF-9C08-ACE6-3EF3-6D041C8F7A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9AA2B513-7D26-2F5D-A618-C46EB64652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36674ADC-F486-1AFB-874D-9A369F596882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316B9F0E-74D4-956B-F4C7-58193A9274F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F190BC37-C4FB-94F3-7FC6-BDADAAA441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25D12E-7F6D-70C3-1A8C-6D2E3508691B}"/>
              </a:ext>
            </a:extLst>
          </p:cNvPr>
          <p:cNvSpPr txBox="1"/>
          <p:nvPr/>
        </p:nvSpPr>
        <p:spPr>
          <a:xfrm>
            <a:off x="31185" y="1588394"/>
            <a:ext cx="1294242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Approach</a:t>
            </a:r>
            <a:br>
              <a:rPr lang="en-US" b="1" dirty="0"/>
            </a:br>
            <a:r>
              <a:rPr lang="en-US" dirty="0"/>
              <a:t>" GPT-4 Functional Equivalence" but strict "Code Independence."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061025-8422-809F-A54F-D8DB3FED062D}"/>
              </a:ext>
            </a:extLst>
          </p:cNvPr>
          <p:cNvSpPr txBox="1"/>
          <p:nvPr/>
        </p:nvSpPr>
        <p:spPr>
          <a:xfrm>
            <a:off x="3994187" y="3537972"/>
            <a:ext cx="8100832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Persona prompting</a:t>
            </a:r>
            <a:br>
              <a:rPr lang="en-US" b="1" dirty="0"/>
            </a:br>
            <a:r>
              <a:rPr lang="en-US" dirty="0"/>
              <a:t>Consists of assigning the AI model a specific professional identity before giving it a task.</a:t>
            </a: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9BEA3B44-4423-061F-D027-EB40F9C7DD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882" y="3237814"/>
          <a:ext cx="2186865" cy="1939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2" imgW="17161799" imgH="15220922" progId="Photoshop.Image.23">
                  <p:embed/>
                </p:oleObj>
              </mc:Choice>
              <mc:Fallback>
                <p:oleObj name="Image" r:id="rId12" imgW="17161799" imgH="15220922" progId="Photoshop.Image.23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F8A27342-BCD4-17DE-14EC-486426B888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96882" y="3237814"/>
                        <a:ext cx="2186865" cy="1939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386175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67404-B03B-2F7C-CDA9-6EC47CC2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F2693D2E-AFD8-8366-22E1-757E6A9DD428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56835177-3344-5680-12CE-5414D6021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680934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Prompt Engineering &amp; AI Benchmark Generation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E5F4F9E6-536B-8451-134E-D8A10E09B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D287F293-37D5-991C-1F4C-A850623EF706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B2E50203-0515-4F76-707F-D8C31B2FA01C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A1002CED-2D87-B175-80A5-CBD5414EF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5727C13F-1138-47B8-D0B0-4A19B9542E14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9882A061-BAB3-0BDF-870C-7F7AD1E2CA84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1A79378D-FC3D-8FA9-8A23-3A3E30E3A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0D1A9491-3BDD-7DE2-0BFD-4E79235075A4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ABD8643F-8D15-6C5F-C48C-9F33713CB073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24CB068D-1EB1-D25F-8291-9B6698653F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6769A9F0-74DB-AF4E-24C3-A6F18B51D0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AF94C83B-98C5-FED6-2369-CAC426A12CC7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F259BAF6-8B0A-37AA-53D9-5AF94644BC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E54E0C59-F14C-8C39-EAED-E0BDE326A0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06513A-97DB-AF23-C252-DF85F50EAEA4}"/>
              </a:ext>
            </a:extLst>
          </p:cNvPr>
          <p:cNvSpPr txBox="1"/>
          <p:nvPr/>
        </p:nvSpPr>
        <p:spPr>
          <a:xfrm>
            <a:off x="31185" y="1588394"/>
            <a:ext cx="1294242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Approach</a:t>
            </a:r>
            <a:br>
              <a:rPr lang="en-US" b="1" dirty="0"/>
            </a:br>
            <a:r>
              <a:rPr lang="en-US" dirty="0"/>
              <a:t>" GPT-4 Functional Equivalence" but strict "Code Independence."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EC13F5-BAEE-1087-BA56-A535DDF8FF3E}"/>
              </a:ext>
            </a:extLst>
          </p:cNvPr>
          <p:cNvSpPr txBox="1"/>
          <p:nvPr/>
        </p:nvSpPr>
        <p:spPr>
          <a:xfrm>
            <a:off x="3994187" y="3537972"/>
            <a:ext cx="8100832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Persona prompting</a:t>
            </a:r>
            <a:br>
              <a:rPr lang="en-US" b="1" dirty="0"/>
            </a:br>
            <a:r>
              <a:rPr lang="en-US" dirty="0"/>
              <a:t>Consists of assigning the AI model a specific professional identity before giving it a task.</a:t>
            </a: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E18C2CFA-7805-2E50-6DE6-1850C7387F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882" y="3237814"/>
          <a:ext cx="2186865" cy="1939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2" imgW="17161799" imgH="15220922" progId="Photoshop.Image.23">
                  <p:embed/>
                </p:oleObj>
              </mc:Choice>
              <mc:Fallback>
                <p:oleObj name="Image" r:id="rId12" imgW="17161799" imgH="15220922" progId="Photoshop.Image.23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9BEA3B44-4423-061F-D027-EB40F9C7DD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96882" y="3237814"/>
                        <a:ext cx="2186865" cy="1939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A7158E68-3CBA-5014-6D54-F3787F7A0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4924" y="5328210"/>
          <a:ext cx="2279294" cy="256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17507145" imgH="19718207" progId="Photoshop.Image.23">
                  <p:embed/>
                </p:oleObj>
              </mc:Choice>
              <mc:Fallback>
                <p:oleObj name="Image" r:id="rId14" imgW="17507145" imgH="19718207" progId="Photoshop.Image.23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4F59892D-1FEE-5FB6-2532-68ECCF4EAE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254924" y="5328210"/>
                        <a:ext cx="2279294" cy="25670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1976FC4B-5291-DAD2-2AE8-2AC5F2A3E5BE}"/>
              </a:ext>
            </a:extLst>
          </p:cNvPr>
          <p:cNvSpPr txBox="1"/>
          <p:nvPr/>
        </p:nvSpPr>
        <p:spPr>
          <a:xfrm>
            <a:off x="1688266" y="6341255"/>
            <a:ext cx="8562580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Few-shot prompting</a:t>
            </a:r>
            <a:br>
              <a:rPr lang="en-US" b="1" dirty="0"/>
            </a:br>
            <a:r>
              <a:rPr lang="en-US" dirty="0"/>
              <a:t>Involves providing the model with the original handwritten benchmark as a concrete example</a:t>
            </a:r>
          </a:p>
        </p:txBody>
      </p:sp>
    </p:spTree>
    <p:extLst>
      <p:ext uri="{BB962C8B-B14F-4D97-AF65-F5344CB8AC3E}">
        <p14:creationId xmlns:p14="http://schemas.microsoft.com/office/powerpoint/2010/main" val="144827271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47A7F-15EB-D002-F78A-4FA2B01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621FAE08-CEB1-B83D-C5AD-CBCD63C7FB2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CAE3E77A-3ED6-8171-E140-8B4752D36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680934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Prompt Engineering &amp; AI Benchmark Generation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265FDD12-471D-12A4-AB5E-8F512AC23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DA7CF298-1A70-C23A-32EC-F396925C83A6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D2563BBB-56B4-0602-4234-1359CAEBD1EC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95D97F3B-C9F8-3D9B-4F21-C539B9964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9C09393A-BBC4-3E40-78D0-F79A8D819055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7116C586-1972-D5D5-ECE7-7FB2D085C787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A314FB7E-35AE-234A-6746-D87346EC3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FA0B592A-ABDF-016E-9F89-33F9CAA56EE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065B8A74-2B08-B678-9C18-1ADD5C3BA67B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20A47B03-04CE-ACD7-669A-F8F907339F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937A28E5-38BD-8144-626A-204981B445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C3D87E00-2A49-2009-3CB4-C4117F4379B7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70FB7FB2-9851-B57F-D678-BAE600B6863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A382DBD8-8BF3-DC89-207A-D14DCA93BE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6E1C05C-F70D-97D2-C343-1DEA8717BD8C}"/>
              </a:ext>
            </a:extLst>
          </p:cNvPr>
          <p:cNvSpPr txBox="1"/>
          <p:nvPr/>
        </p:nvSpPr>
        <p:spPr>
          <a:xfrm>
            <a:off x="1095626" y="1696934"/>
            <a:ext cx="10813548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Results</a:t>
            </a:r>
            <a:br>
              <a:rPr lang="en-US" dirty="0"/>
            </a:br>
            <a:r>
              <a:rPr lang="en-US" dirty="0"/>
              <a:t>16 perfectly compiling AI twins that test identical operations (Cache, Async/Futures, Atomic Increments) with different implementations.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C059DE-C25B-D026-4274-77F8BD5DE6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6551" y="3607067"/>
            <a:ext cx="9678239" cy="4160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873448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1512-3905-8EF7-2C94-CD1E4EAA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07E0B724-F327-B5DE-1794-381BC4C8C2BA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BABC6AF5-AB50-D811-E599-CD5738CC7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Experimental Setup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509F64C0-8605-DDAC-B571-FA0BA6E41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9D017F74-492D-B300-DDA2-7864A74D2D3E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FE3CA0F3-1ED1-3EF4-0C3B-37561318CB46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9DD0111B-8359-EA06-4474-0C7A64639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3E1B9F8C-473C-2CA1-1A59-C57C75C05140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2AEBF7D2-2894-C99D-809A-B0E34B6F7180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BAE1F84E-FCE7-0F09-E7BE-FD4096B76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7BD910C6-86ED-1C86-2E0B-38F7563E9087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060A75CB-E8F3-6E29-A8C3-6826A7D52EC4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77F753B2-9AF9-63E6-0F98-FCF5F06B1C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BFD62F0A-F51E-20CD-70BF-6C3C9AF344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14EE80E2-C6F4-58D8-712A-BC4B91FE4592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20B52CF6-DC27-B34E-CA35-3F7E41CF51F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1E3CDE23-8DAB-EA61-166E-BC2A9F0C1E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ADF27A-9C64-7500-5171-5E6262D7316D}"/>
              </a:ext>
            </a:extLst>
          </p:cNvPr>
          <p:cNvSpPr txBox="1"/>
          <p:nvPr/>
        </p:nvSpPr>
        <p:spPr>
          <a:xfrm>
            <a:off x="2893726" y="1594251"/>
            <a:ext cx="8448964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A Rigorous Benchmarking Environment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A2A883-C0BD-F305-3C76-87C9C7728B5B}"/>
              </a:ext>
            </a:extLst>
          </p:cNvPr>
          <p:cNvSpPr txBox="1"/>
          <p:nvPr/>
        </p:nvSpPr>
        <p:spPr>
          <a:xfrm>
            <a:off x="1367075" y="2631151"/>
            <a:ext cx="9816483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Dedicated Server, 128GB RAM, 7 CPUs (Ubuntu 24.04).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F10BD-8C83-8CBC-38EF-D21010EEA26B}"/>
              </a:ext>
            </a:extLst>
          </p:cNvPr>
          <p:cNvSpPr txBox="1"/>
          <p:nvPr/>
        </p:nvSpPr>
        <p:spPr>
          <a:xfrm>
            <a:off x="854478" y="3782697"/>
            <a:ext cx="1129584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dirty="0"/>
              <a:t>Noise Reduction: Disabled system features like Turbo Boost and Hyper-Threading to ensure flat CPU performance.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5BE639-018C-37CA-6015-60396AF441F1}"/>
              </a:ext>
            </a:extLst>
          </p:cNvPr>
          <p:cNvSpPr txBox="1"/>
          <p:nvPr/>
        </p:nvSpPr>
        <p:spPr>
          <a:xfrm>
            <a:off x="5145446" y="5349742"/>
            <a:ext cx="10404764" cy="16158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10 JVM Forks per benchmark.</a:t>
            </a:r>
            <a:br>
              <a:rPr lang="en-US" dirty="0"/>
            </a:br>
            <a:r>
              <a:rPr lang="en-US" dirty="0"/>
              <a:t>3000 Iterations per fork.</a:t>
            </a:r>
            <a:br>
              <a:rPr lang="en-US" dirty="0"/>
            </a:br>
            <a:r>
              <a:rPr lang="en-US" dirty="0"/>
              <a:t>Single-shot execution mode</a:t>
            </a:r>
            <a:br>
              <a:rPr lang="en-US" dirty="0"/>
            </a:br>
            <a:r>
              <a:rPr lang="en-US" sz="2000" i="1" u="sng" dirty="0"/>
              <a:t>(recording time-per-operation to preserve full distribution data)</a:t>
            </a:r>
            <a:endParaRPr lang="en-US" i="1" u="sn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5EE406-BBFC-6F11-DD4C-271637289FA1}"/>
              </a:ext>
            </a:extLst>
          </p:cNvPr>
          <p:cNvSpPr txBox="1"/>
          <p:nvPr/>
        </p:nvSpPr>
        <p:spPr>
          <a:xfrm>
            <a:off x="1112441" y="5864920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Execution Parameters: </a:t>
            </a:r>
          </a:p>
        </p:txBody>
      </p:sp>
    </p:spTree>
    <p:extLst>
      <p:ext uri="{BB962C8B-B14F-4D97-AF65-F5344CB8AC3E}">
        <p14:creationId xmlns:p14="http://schemas.microsoft.com/office/powerpoint/2010/main" val="395165425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F5D44-326F-9CE1-0489-CB424199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6D621958-1EB9-4D6E-D5C2-FC9C6CDADEC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E4C3E3D8-C9C7-7888-E0CE-0C33A8B3A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Experimental Setup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22120298-79EA-183F-CE56-00E8576D0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4803F68B-25D2-398D-B5A7-70E6BD724074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4363F3D3-1353-EA82-B36B-41302381E2C7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EA581517-EE34-9F61-75D0-5375C6D5B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B9824322-9995-3A61-F3BA-80DDF0B62EC5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69C6FC1C-8F85-DCE1-FF4A-920A86368784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095983B3-4F28-7988-BA0F-398E45CA9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8A75D348-7F22-8CF8-7DB2-32C318779B7F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46B68BA4-7102-C9B4-6869-4EB098D6D88F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5D9C80E7-CB21-9A47-ABDE-43A50642CE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E0EA6F4E-E989-94D9-8579-42DE4D2FEC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B75F8B5E-71AA-75D2-1E93-77B28EBF1301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E2276687-3117-A9CF-B754-274B6133837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31B623A4-3E19-DEB6-B41A-F8B62A952D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78F85E-424A-A5B1-D074-597779E9CDA3}"/>
              </a:ext>
            </a:extLst>
          </p:cNvPr>
          <p:cNvSpPr txBox="1"/>
          <p:nvPr/>
        </p:nvSpPr>
        <p:spPr>
          <a:xfrm>
            <a:off x="2893726" y="1594251"/>
            <a:ext cx="8448964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A Rigorous Benchmarking Environment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0F0D5-68A2-47C6-5B42-64013B20BE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157" y="2728513"/>
            <a:ext cx="11293819" cy="49383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539138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616F4-F31F-F82E-4AC0-9DB0CFEB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31C27DBD-6D93-CFEC-4A59-1BD0B513D1C5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183850FC-BCD8-4B19-0E35-AF1D02C6F4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Injecting the Regression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6FC7AA74-D421-FD3E-8C3C-15856F26E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4E167C4D-183F-80BB-60C7-EFAC7856A697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5813FA3B-AF8D-5B38-405C-D5FDB07F1091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CD69BA9C-4077-AB20-6867-5E7292BC7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B11D7F2B-7CB3-8198-4ED9-171FDDDD6579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1D3C0489-521C-5624-2A7D-AFCCFC99B327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616806E1-75FF-9669-548C-BCDF634DE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2C236033-85E7-A756-80A7-4F737DF7B4DC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33348FE0-624B-F9ED-2514-3FFB505D04F3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08843121-9018-F535-B1BB-24BC7D9D62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EA91B20A-7B84-4269-9BE5-D43A1E0995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F758D448-1C45-8D71-77C7-34032ACA8DAE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65BB8BC4-CA14-84D7-5439-A1B7BCEC26D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5FD9F6AD-D255-B099-43F9-E869962D69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3B7A10-1B5B-4CB8-E638-6FF55D50DE9D}"/>
              </a:ext>
            </a:extLst>
          </p:cNvPr>
          <p:cNvSpPr txBox="1"/>
          <p:nvPr/>
        </p:nvSpPr>
        <p:spPr>
          <a:xfrm>
            <a:off x="3246582" y="1688503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Simulating Software Degradation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627F0-9E6F-7BA2-F51B-7DDD067471B5}"/>
              </a:ext>
            </a:extLst>
          </p:cNvPr>
          <p:cNvSpPr txBox="1"/>
          <p:nvPr/>
        </p:nvSpPr>
        <p:spPr>
          <a:xfrm>
            <a:off x="2379149" y="2892849"/>
            <a:ext cx="1032332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How do we guarantee a controlled, measurable regression?</a:t>
            </a:r>
          </a:p>
        </p:txBody>
      </p:sp>
      <p:pic>
        <p:nvPicPr>
          <p:cNvPr id="33" name="Picture 2" descr="Problem - Free business and finance icons">
            <a:extLst>
              <a:ext uri="{FF2B5EF4-FFF2-40B4-BE49-F238E27FC236}">
                <a16:creationId xmlns:a16="http://schemas.microsoft.com/office/drawing/2014/main" id="{6B5E86CB-636F-6D45-6B7D-CDBB19887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874">
            <a:off x="853197" y="2120380"/>
            <a:ext cx="1851398" cy="185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94090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39918-F30E-C2FF-B0B0-B4E6337E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F3FE719E-1B41-1FC5-872D-9C5D59D68C0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19FC9735-90FA-EEC3-3026-B3143E328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Injecting the Regression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1AF6468C-451B-DBEC-3CAE-52F9AEB6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5959D9FB-7355-E42A-CDEB-5EF6124B9D04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4826EC4E-E18E-AADE-6A31-311C9F016733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164A4AB1-6F25-914F-0FCF-D04217377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22B6B72A-7AEC-1CE9-BFE0-1C70C082C468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BF91DE8E-0B55-260A-8D3D-15C7DD241D5E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85DBB491-C3DC-891C-DA2B-D0366AF67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6995FAAC-2C3B-A262-A75A-C093B4B89E20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4BE61A00-E077-4E10-9EAC-BB5BA03A11C4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E6F33276-0743-EF1C-3D39-B6A6AE9196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4BC66C14-8B23-1C8A-3705-77B7A7C2FD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48F83ABF-F65A-D7A9-CA38-5CE082472064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7358F43D-1655-A187-3427-0DF1021CF0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F79E61A9-F98D-5795-B276-0733260680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F5A029-F605-C067-1CBD-0486220FC2DB}"/>
              </a:ext>
            </a:extLst>
          </p:cNvPr>
          <p:cNvSpPr txBox="1"/>
          <p:nvPr/>
        </p:nvSpPr>
        <p:spPr>
          <a:xfrm>
            <a:off x="3246582" y="1688503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Simulating Software Degradation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3D691-1181-7DD8-332E-D769B0B768F2}"/>
              </a:ext>
            </a:extLst>
          </p:cNvPr>
          <p:cNvSpPr txBox="1"/>
          <p:nvPr/>
        </p:nvSpPr>
        <p:spPr>
          <a:xfrm>
            <a:off x="2379149" y="2892849"/>
            <a:ext cx="1032332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How do we guarantee a controlled, measurable regression?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B381E3-2825-F82D-F073-B5E46A6FE0A3}"/>
              </a:ext>
            </a:extLst>
          </p:cNvPr>
          <p:cNvSpPr txBox="1"/>
          <p:nvPr/>
        </p:nvSpPr>
        <p:spPr>
          <a:xfrm>
            <a:off x="2985915" y="6264048"/>
            <a:ext cx="7032969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The Solution: Artificial Code Injection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01D59F-98EA-88CA-2ECE-3254A11DEC23}"/>
              </a:ext>
            </a:extLst>
          </p:cNvPr>
          <p:cNvSpPr txBox="1"/>
          <p:nvPr/>
        </p:nvSpPr>
        <p:spPr>
          <a:xfrm>
            <a:off x="1771070" y="6798303"/>
            <a:ext cx="946265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dirty="0"/>
              <a:t>Injected </a:t>
            </a:r>
            <a:r>
              <a:rPr lang="en-US" i="1" u="sng" dirty="0" err="1"/>
              <a:t>Blackhole.consumeCPU</a:t>
            </a:r>
            <a:r>
              <a:rPr lang="en-US" i="1" u="sng" dirty="0"/>
              <a:t>(1000000L) </a:t>
            </a:r>
            <a:r>
              <a:rPr lang="en-US" dirty="0"/>
              <a:t>into both Human and AI benchmark methods.</a:t>
            </a:r>
          </a:p>
        </p:txBody>
      </p:sp>
      <p:pic>
        <p:nvPicPr>
          <p:cNvPr id="33" name="Picture 2" descr="Problem - Free business and finance icons">
            <a:extLst>
              <a:ext uri="{FF2B5EF4-FFF2-40B4-BE49-F238E27FC236}">
                <a16:creationId xmlns:a16="http://schemas.microsoft.com/office/drawing/2014/main" id="{628C25A6-7355-5BE6-ACFF-01EE17BAC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874">
            <a:off x="853197" y="2120380"/>
            <a:ext cx="1851398" cy="185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Solution - Free electronics icons">
            <a:extLst>
              <a:ext uri="{FF2B5EF4-FFF2-40B4-BE49-F238E27FC236}">
                <a16:creationId xmlns:a16="http://schemas.microsoft.com/office/drawing/2014/main" id="{B6500E2B-3A89-D484-1082-BCCF96049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21912">
            <a:off x="5570780" y="4225202"/>
            <a:ext cx="1863236" cy="186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4156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FF6EE-6D71-94F9-C932-5C5235FF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448F598F-5FC2-3EA9-8D46-00F944702926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89E1BFD5-FD60-C7EE-B0BF-ED8AD520B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Injecting the Regression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ADA649DF-12DB-1655-0511-FA42FE13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B1BA3CCB-DFFD-3195-775D-5BECDB3AE7F6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AA5D800F-9037-6041-55B4-AC838E1303C5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ADF9789D-1423-B410-94A8-D56CE646D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CDF08C8B-C5F3-34E4-8E9F-DFF960866A97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49DF4F7B-3B3C-7D0D-9DC7-7F5F4233BA70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88ADDBA6-F355-7CD5-D088-0DBCFAC40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20E9E799-7424-B56E-B016-DC3C49F1E281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D91C1C9F-796C-56D8-2A0F-E05BA3912032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56229D98-3F1D-EB6A-49A4-0B8F94EF9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E9100D49-E2BB-20F8-7AB2-0FEDC81300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B6170968-3C00-8237-D3AE-182BA82C80FB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6330A031-5296-F93C-3940-65E09550AD6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21D2509F-3762-D7A0-220D-8FF33C18F7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647C33-CD8E-84FC-EB4E-60C884BA4319}"/>
              </a:ext>
            </a:extLst>
          </p:cNvPr>
          <p:cNvSpPr txBox="1"/>
          <p:nvPr/>
        </p:nvSpPr>
        <p:spPr>
          <a:xfrm>
            <a:off x="3246582" y="1688503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Simulating Software Degradation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384E96-A113-6DD3-5B0C-A5479CE4739F}"/>
              </a:ext>
            </a:extLst>
          </p:cNvPr>
          <p:cNvSpPr txBox="1"/>
          <p:nvPr/>
        </p:nvSpPr>
        <p:spPr>
          <a:xfrm>
            <a:off x="1249693" y="3631686"/>
            <a:ext cx="10505412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Phase 1 (Baseline): Tracked performance on clean code.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45785D-6AF3-C3EA-2A6C-1F522F6393C9}"/>
              </a:ext>
            </a:extLst>
          </p:cNvPr>
          <p:cNvSpPr txBox="1"/>
          <p:nvPr/>
        </p:nvSpPr>
        <p:spPr>
          <a:xfrm>
            <a:off x="828807" y="5796405"/>
            <a:ext cx="1134718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Phase 2 (Regression): Tracked performance after injecting the CPU delay.</a:t>
            </a:r>
          </a:p>
        </p:txBody>
      </p:sp>
    </p:spTree>
    <p:extLst>
      <p:ext uri="{BB962C8B-B14F-4D97-AF65-F5344CB8AC3E}">
        <p14:creationId xmlns:p14="http://schemas.microsoft.com/office/powerpoint/2010/main" val="176728445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9FFE65-201C-E138-88A6-D0E52D40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F7928B7A-9E75-DC2C-963F-765BD2B240DA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E93F77A6-7A0D-EBAC-AF08-D7AA2AB658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Statistical Analysis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5044B9A7-904B-89C2-9C8F-5DC12ABFE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75D406F8-0337-F8EF-580C-5A81489B9563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26A05648-2AB3-2620-DBF4-CF858BE69D40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1E3871D6-021A-5CD6-EDA4-54AD363EF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94D9E18B-3F5A-5706-ACF1-01C200C1D178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0B6A3A32-87C0-583D-C7A7-B386097C7D40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F7810E68-E82E-10FA-AC58-B9DAE36ED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45EE9A67-339B-E4CA-8BF9-E42316D8B5C3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F9819C9D-7870-A83B-AD08-E280DCBB128D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08736BEE-5313-CA01-EF14-AD6623BD7F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DB7318E9-C84F-F2DE-B36F-6FEDD828A4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91271015-6C80-919C-2E92-C8FE2B12F6FB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B420ED51-0DD6-F1AD-38A7-6522FC32E82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933AAA75-1557-ACF8-0317-65A464F9AA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6B1CCF-6C6F-19FF-CE67-8D64EF408E25}"/>
              </a:ext>
            </a:extLst>
          </p:cNvPr>
          <p:cNvSpPr txBox="1"/>
          <p:nvPr/>
        </p:nvSpPr>
        <p:spPr>
          <a:xfrm>
            <a:off x="2655454" y="1696934"/>
            <a:ext cx="1034934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Evaluating the Data: Hierarchical Bootstrap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7E9478-212D-EE6D-EBCF-7D475F67A2B5}"/>
              </a:ext>
            </a:extLst>
          </p:cNvPr>
          <p:cNvSpPr txBox="1"/>
          <p:nvPr/>
        </p:nvSpPr>
        <p:spPr>
          <a:xfrm>
            <a:off x="1319834" y="4327980"/>
            <a:ext cx="1079507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JMH execution data is non-independent (iterations inside the same JVM fork share the same memory state).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D01AF-B798-8023-C63A-323846C14736}"/>
              </a:ext>
            </a:extLst>
          </p:cNvPr>
          <p:cNvSpPr txBox="1"/>
          <p:nvPr/>
        </p:nvSpPr>
        <p:spPr>
          <a:xfrm>
            <a:off x="1313873" y="5309980"/>
            <a:ext cx="1037109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Standard statistical tests (like the t-test) would yield false positives.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0C8593-3C5C-3BEE-B4D2-6CE158E9FEA9}"/>
              </a:ext>
            </a:extLst>
          </p:cNvPr>
          <p:cNvSpPr txBox="1"/>
          <p:nvPr/>
        </p:nvSpPr>
        <p:spPr>
          <a:xfrm>
            <a:off x="3241962" y="3138969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79163221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63EC5-D252-845C-CBCD-D9DDB3AB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E7543DC3-0D8D-FFD0-9302-7F9AD49060B5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06767B5E-3F0F-EE33-4CD5-CA8B395AC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Statistical Analysis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8DB78358-A63A-ADDD-C988-82234A99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D23608D8-D78C-FEE8-EA77-ECC7739B03AA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1B9DF2A4-E69A-566B-66AF-5C7909E8A057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51EC7F4A-7143-1AB8-85B1-236168C5D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B8053C8B-1101-A5D3-0292-CC1B4878980F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DB01C728-3DD8-F475-FCD1-BCEF7C313D89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5A8E1DD0-C940-2E5E-EBE4-44DE37192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C43CAAE4-C292-48A4-CCFD-C30AFAFA2B90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F960CF06-4160-51BC-2774-B265E02D61C3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BD35869C-AC77-644F-9196-6CD35935C4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BBFFC47D-B0CF-8177-B10C-4012FAB6A0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AD018688-FC92-D4EC-1352-67FC384BF05C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28489381-45BE-FF7A-6810-0BE0CACA062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5F37BF14-548E-C7AC-1F9D-9DCEA46571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5DD4D1-98F6-B4AF-AEF0-4DEB7DD1AB4E}"/>
              </a:ext>
            </a:extLst>
          </p:cNvPr>
          <p:cNvSpPr txBox="1"/>
          <p:nvPr/>
        </p:nvSpPr>
        <p:spPr>
          <a:xfrm>
            <a:off x="2655454" y="1696934"/>
            <a:ext cx="1034934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Evaluating the Data: Hierarchical Bootstrap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DB5511-12BE-C8A7-E1EA-4BCB6869E593}"/>
              </a:ext>
            </a:extLst>
          </p:cNvPr>
          <p:cNvSpPr txBox="1"/>
          <p:nvPr/>
        </p:nvSpPr>
        <p:spPr>
          <a:xfrm>
            <a:off x="1112441" y="5688297"/>
            <a:ext cx="10784781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Used Hierarchical Bootstrapping.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0F4C71-D376-426E-DCCB-CA0C3E606316}"/>
              </a:ext>
            </a:extLst>
          </p:cNvPr>
          <p:cNvSpPr txBox="1"/>
          <p:nvPr/>
        </p:nvSpPr>
        <p:spPr>
          <a:xfrm>
            <a:off x="1112441" y="4290799"/>
            <a:ext cx="11162686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10,000 resampling iterations (first at the fork level, then at the iteration level) to calculate accurate 95% Confidence Intervals and p-values.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D8AA7-4545-0232-036B-BF1938F7508A}"/>
              </a:ext>
            </a:extLst>
          </p:cNvPr>
          <p:cNvSpPr txBox="1"/>
          <p:nvPr/>
        </p:nvSpPr>
        <p:spPr>
          <a:xfrm>
            <a:off x="3241962" y="3138969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48500522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B1934-F2E5-1535-D718-308051CE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64B3055B-B656-B7BE-2763-6D903F176FEE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7B2D54DF-D295-4B73-894B-6CCC2C15B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Key Findings (Detection Rate)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42F5223C-68D3-7A20-65CE-C53F02CE4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11D728D0-B34E-4E09-F996-BE02F28F1AD5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FB8D236F-1552-616E-EB8C-797AB0D40F7A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EE2D57F7-B58C-2E35-65D3-DF968CDB0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8327B6D4-9595-B1CD-612F-EBAA8661EA9C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EC28E616-FDF7-4FD0-0A42-B7B238C44584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BF9380A3-204C-FD58-F4C0-E1D7E772A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ACCCA920-EA57-5A9B-7E15-3C4E11FAD1B5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E4BDE113-C032-2DEC-C959-CC0943E940F3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AD53EFD1-ABA4-C13E-F57B-5EB6A89FCB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E67AEFB9-D083-7C08-4B3C-AF37EAB4DE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78F7B58E-4987-84F8-56A1-414B68B5C0B5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F8025EDF-7E2C-0BC9-74BD-A565C04810E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5C1865C2-6B85-C6C1-193D-67BDA028C7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AAE3AD-EAF6-1E54-A0F5-02FD1D9BC76E}"/>
              </a:ext>
            </a:extLst>
          </p:cNvPr>
          <p:cNvSpPr txBox="1"/>
          <p:nvPr/>
        </p:nvSpPr>
        <p:spPr>
          <a:xfrm>
            <a:off x="2319525" y="1682806"/>
            <a:ext cx="9215147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Finding 1: Regression Detection Success Rate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576316-607B-16A4-D617-58CF8A6D56E0}"/>
              </a:ext>
            </a:extLst>
          </p:cNvPr>
          <p:cNvSpPr txBox="1"/>
          <p:nvPr/>
        </p:nvSpPr>
        <p:spPr>
          <a:xfrm>
            <a:off x="895853" y="5196346"/>
            <a:ext cx="11619421" cy="29905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Handwritten: Successfully detected the regression 16 out of 16 times (100%).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AI-Generated: Successfully detected the regression 16 out of 16 times (100%).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Statistical significance achieved (p &lt; 0.001) in all cases.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F80BDB-9466-2F7E-76B6-44360C96388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936" y="2460469"/>
            <a:ext cx="4522927" cy="269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7898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BE37D-1E16-72C5-0104-B63F66B1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B69E4C75-C4DF-2180-5A6C-CD02E5A8C89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8F286DFA-E460-FDF8-2304-CE9965606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Key Findings (Detection Rate)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70554B42-94FC-6044-8372-E380F55A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7E3374D1-0D3A-5289-3C6A-F46872FE5B06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E4AAF48C-56DF-8174-39D4-438D488B00F9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0575F981-5BE1-0A56-3005-9ABF53419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F37E1748-FE57-3009-9A2D-45EFFEC18672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1BF52A0F-3A9D-1401-726E-67410F20F153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87E788E2-3627-4B74-1D6C-B577AFB4F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51CF7287-DB97-C509-AA6B-BB41E5F75BC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669EFA58-E67D-22D1-3986-D800262BF7D4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465B1570-5451-DE84-9465-CFDFA52B14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4B07A9BE-9B74-451C-9077-1D2E04EE13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2B8BAA16-7BAB-0FFE-D6E3-1E3A9871013B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3503F8B5-EA76-CE59-5EB8-E2CCA686B05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A7A24C6E-0D95-E69C-63D8-989EFD455A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154CA7-DBB3-8D7E-6C7A-16AE7163B966}"/>
              </a:ext>
            </a:extLst>
          </p:cNvPr>
          <p:cNvSpPr txBox="1"/>
          <p:nvPr/>
        </p:nvSpPr>
        <p:spPr>
          <a:xfrm>
            <a:off x="2319525" y="1682806"/>
            <a:ext cx="9215147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Finding 1: Regression Detection Success Rate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B14BAA4-EA31-D749-FCEA-7D61E5A1B2E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363" y="2360453"/>
            <a:ext cx="6262600" cy="373817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5CA345-B253-EDD9-84F1-EFEEF704D853}"/>
              </a:ext>
            </a:extLst>
          </p:cNvPr>
          <p:cNvSpPr/>
          <p:nvPr/>
        </p:nvSpPr>
        <p:spPr>
          <a:xfrm>
            <a:off x="1620518" y="6470073"/>
            <a:ext cx="9857181" cy="108065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92F66-155D-FCFF-B460-C81B36228EDA}"/>
              </a:ext>
            </a:extLst>
          </p:cNvPr>
          <p:cNvSpPr txBox="1"/>
          <p:nvPr/>
        </p:nvSpPr>
        <p:spPr>
          <a:xfrm>
            <a:off x="1620518" y="6603874"/>
            <a:ext cx="10223847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i="1" dirty="0"/>
              <a:t>Answer to RQ1. AI-generated benchmarks are fully equivalent to hand-written ones in terms of detection capability.</a:t>
            </a:r>
            <a:endParaRPr kumimoji="0" lang="en-US" sz="24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2390563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6BA1B-E2D8-E700-9EDD-C9F3B777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2CCA043C-CB75-C24D-F1A9-8ABACCA062CA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E4742338-BE16-F940-AC9D-DAC75BF697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Key Findings (Behavioral Equivalence)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D5AB50F2-A0A5-3BA4-37B2-212FB8A4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17993758-A4D0-86F7-F62F-48EC9DF9C2C1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C25257D9-DB67-3713-6D4A-CCC99ACB34B7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587D9EA4-636D-2685-5C46-938B89C31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2EB6898F-DD13-64CB-430D-E67CB73B3C65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D53BB9BD-CC70-CB33-BB66-7F2C475EA09B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7A9A6125-2B25-F86C-F32F-314733E86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8D760C3F-2E78-4E40-D68E-A360008428D4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D4B61C9E-27B5-9E73-0E01-E082D53F2EB0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920C9B51-F3F4-B6D7-9564-BD6BFCC6EA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ACA4C313-AA56-51CC-C1FE-7D96C4DD9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B569A925-2B0A-0D89-3397-E8E02E2415B2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16A96714-0AB2-97E0-F1C2-9D3CBCCF72D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48AC2044-7501-4879-EADE-C4FCDFC850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1F7B2-3FC4-E230-D961-6866BED8032A}"/>
              </a:ext>
            </a:extLst>
          </p:cNvPr>
          <p:cNvSpPr txBox="1"/>
          <p:nvPr/>
        </p:nvSpPr>
        <p:spPr>
          <a:xfrm>
            <a:off x="2172853" y="1557474"/>
            <a:ext cx="8659092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Finding 2: Measurement Sensitivity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21B63-84CA-1EDA-D24A-75354FCD5313}"/>
              </a:ext>
            </a:extLst>
          </p:cNvPr>
          <p:cNvSpPr txBox="1"/>
          <p:nvPr/>
        </p:nvSpPr>
        <p:spPr>
          <a:xfrm>
            <a:off x="1084475" y="2523587"/>
            <a:ext cx="10835847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dirty="0"/>
              <a:t>When comparing the median impact across all benchmarks per commit, AI-generated benchmarks report a higher value in all three versions: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10B71-2972-6DDA-32EB-3339867448FB}"/>
              </a:ext>
            </a:extLst>
          </p:cNvPr>
          <p:cNvSpPr txBox="1"/>
          <p:nvPr/>
        </p:nvSpPr>
        <p:spPr>
          <a:xfrm>
            <a:off x="1992512" y="4005152"/>
            <a:ext cx="9019772" cy="21595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v1.8.0 the AI median is 4,777% versus 4,447%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v2.0.0 the AI median is 63,400% versus 61,887%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v2.2.0 the AI median is 69,838% versus 61,417%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B8D782-1E3D-C644-6857-CC0EFDF37C37}"/>
              </a:ext>
            </a:extLst>
          </p:cNvPr>
          <p:cNvSpPr/>
          <p:nvPr/>
        </p:nvSpPr>
        <p:spPr>
          <a:xfrm>
            <a:off x="1578953" y="6440656"/>
            <a:ext cx="10419082" cy="1529726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AAB28C-11E3-68AE-C5DA-D8402251DB82}"/>
              </a:ext>
            </a:extLst>
          </p:cNvPr>
          <p:cNvSpPr txBox="1"/>
          <p:nvPr/>
        </p:nvSpPr>
        <p:spPr>
          <a:xfrm>
            <a:off x="1696474" y="6496076"/>
            <a:ext cx="10223847" cy="14219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i="1" dirty="0"/>
              <a:t>Answer to RQ2. While the advantage is not uniform at the per-benchmark level, the overall signal produced by AI-generated benchmarks is consistently at least as strong as, and at the median level larger than, the handwritten baselines.</a:t>
            </a:r>
            <a:endParaRPr kumimoji="0" lang="en-US" sz="24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6761446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FF6A3-6BCB-009B-173A-FF09FEC7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C0C8E515-32C2-9971-887A-6E40241F7103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55C7FFA7-6DB0-CEDE-0856-9F375AB2FE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Key Findings (Behavioral Equivalence)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3F033473-FF1F-D37B-5DF8-DFC56EEE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4AD04AC0-976D-7AEE-66A7-C6EC9EDE820F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328E531C-8C19-4FAA-7962-65822CA02E5E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2A8015A2-6D70-34ED-3FFC-ACD199300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8A9ED92C-1061-CD28-0C74-396AE46FF475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66E8035B-8F6A-DB39-0D9F-4D8DA95CCDA9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9E219ED3-5572-76A9-4AE3-5694AF98C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42D362A6-FD7E-FA25-9338-EE7D676D6B61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3DE9D355-5A3A-DC93-6E0E-ED52BB1FD14A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88C9CEEF-147A-7697-A95A-F20751FE2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1834CDE9-C97C-059E-32CC-DB3E981933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96D9F81A-D21D-A226-5CB0-5EC6063A0B72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C4C744A3-B0C5-E3EF-6824-19D20A2CF65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DC6DBD45-241B-6FDF-30F8-6E9F131A6D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6AF347-910E-F7CD-5708-10B1300B61BF}"/>
              </a:ext>
            </a:extLst>
          </p:cNvPr>
          <p:cNvSpPr txBox="1"/>
          <p:nvPr/>
        </p:nvSpPr>
        <p:spPr>
          <a:xfrm>
            <a:off x="2172853" y="1557474"/>
            <a:ext cx="8659092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Finding 2: Measurement Sensitivity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F7A20A-D3C6-3634-CA56-5496576C4F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8127" y="2271365"/>
            <a:ext cx="6568545" cy="5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4895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44964-8FB4-FF80-2623-DA2E33F3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99AAC9D1-1A99-DC67-16DF-ED9EAA6EDF3A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E3D35D3D-B3E6-5134-9CC6-3E2120E75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Key Findings (Behavioral Equivalence)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25BCED56-93FF-4222-C505-081582521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CCB46133-80D3-08DA-ED51-AACAA2571A82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9FAE86A3-9A7A-A669-60B9-B55B4462BD45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D6CFD901-6D4D-B3C2-0542-35FEEE78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290B9E2F-2641-2CD2-F438-F1AB8DF63F63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1E3F2D1A-5BBA-2DE2-CB42-A380DEDE4DC8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5D87B614-ECFD-DFAC-A292-3BBCC313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5E137134-1B86-74E1-149E-7C5B18E62FD6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36ED4099-1748-18FC-5260-A8330598F885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5AA98031-D546-6CDF-F13F-F68D143ACE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089FCE12-CF52-A9F8-3AAB-F1E6E23E6B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D97C374C-DC05-B87E-7AB1-36B560B6A79C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BD23D7CE-925F-B4F0-8A02-0EB5E58E930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5E24C75C-F2E3-607C-64AF-D98E62F7EB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6358CD-8AB8-3A35-0780-77E760F812D7}"/>
              </a:ext>
            </a:extLst>
          </p:cNvPr>
          <p:cNvSpPr txBox="1"/>
          <p:nvPr/>
        </p:nvSpPr>
        <p:spPr>
          <a:xfrm>
            <a:off x="2172854" y="1557474"/>
            <a:ext cx="8659092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Finding 3: Generalization and Consistency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B55DFA-3606-FCA1-541C-C4423A0E9262}"/>
              </a:ext>
            </a:extLst>
          </p:cNvPr>
          <p:cNvSpPr txBox="1"/>
          <p:nvPr/>
        </p:nvSpPr>
        <p:spPr>
          <a:xfrm>
            <a:off x="1134658" y="2879348"/>
            <a:ext cx="810632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Benchmarks grouped by functionality: Cache, Async/Futures, and Atomic Increments.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E2EF07-58C6-5004-3BDC-82C99E6C04BD}"/>
              </a:ext>
            </a:extLst>
          </p:cNvPr>
          <p:cNvSpPr txBox="1"/>
          <p:nvPr/>
        </p:nvSpPr>
        <p:spPr>
          <a:xfrm>
            <a:off x="1134658" y="3984469"/>
            <a:ext cx="1055626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The variance and standard deviation of AI benchmarks tightly mathematically mirror the handwritten code.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FFBFEA-76FE-61AC-D7DD-9A0B61D4CA49}"/>
              </a:ext>
            </a:extLst>
          </p:cNvPr>
          <p:cNvSpPr txBox="1"/>
          <p:nvPr/>
        </p:nvSpPr>
        <p:spPr>
          <a:xfrm>
            <a:off x="1112441" y="5277246"/>
            <a:ext cx="12844578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LLMs correctly preserved the scale and scope of the tested methods.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47AB63-C9B2-D6BE-E855-364BD0446CD0}"/>
              </a:ext>
            </a:extLst>
          </p:cNvPr>
          <p:cNvSpPr/>
          <p:nvPr/>
        </p:nvSpPr>
        <p:spPr>
          <a:xfrm>
            <a:off x="1668765" y="6426801"/>
            <a:ext cx="9781224" cy="1223868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33930" rtl="0" fontAlgn="auto" latinLnBrk="0" hangingPunct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798F4-DC42-BFA1-003A-CF5B924D6276}"/>
              </a:ext>
            </a:extLst>
          </p:cNvPr>
          <p:cNvSpPr txBox="1"/>
          <p:nvPr/>
        </p:nvSpPr>
        <p:spPr>
          <a:xfrm>
            <a:off x="1696475" y="6496076"/>
            <a:ext cx="9994452" cy="10895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i="1" dirty="0"/>
              <a:t>Answer to RQ3. AI-generated benchmarks generalize well: their detection capability and measurement sensitivity are stable across the full experimental scope of this study.</a:t>
            </a:r>
            <a:endParaRPr kumimoji="0" lang="en-US" sz="24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0236012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9A7B6-6CB0-8D54-0BC6-70237A0E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06371E0A-1232-E4B9-C7EC-6783B7D2A158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7CAB5B7C-936B-F88D-2EDE-B13FB48C85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Key Findings (Behavioral Equivalence)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DD5CC278-069C-3177-30AC-3D936EB8E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00DC39FF-DCCD-0F7A-9265-DAB0DBA1BC4B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833DBEA9-86FC-41E9-F4C5-E3229294D0AF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B26B4B16-76A8-7B11-2C9C-1AA5B559B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F2BCAF94-4501-557A-3D1D-9BDC8B6C7A00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2F86CCDA-01C5-269A-E1FB-8A348088930B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ED4BE02F-3447-FBA6-B804-778B2A6B9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BD284DF7-D853-71D6-8C95-3FE1CE1658AF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5F2F0826-8BDF-DACD-B22F-7F488055BE89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AC6D4CAD-83A7-E160-658B-A4C11B0BAE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C83942D0-2939-5865-F9C3-9E772261D2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0822D9DA-8BD1-BD87-C14B-45658D0288B7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0C0D7D3E-18AD-3F16-BADD-24F9B9FFA11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C02F8F14-8888-7B44-7EE8-D0B497DB4A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D67A50-1C2D-CA7D-1D03-FFCA9668FE09}"/>
              </a:ext>
            </a:extLst>
          </p:cNvPr>
          <p:cNvSpPr txBox="1"/>
          <p:nvPr/>
        </p:nvSpPr>
        <p:spPr>
          <a:xfrm>
            <a:off x="2172854" y="1557474"/>
            <a:ext cx="8659092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Finding 3: Generalization and Consistency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EED659-CDF0-C806-6745-74ED4CA6BD2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398" y="2439484"/>
            <a:ext cx="7452003" cy="559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6592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FA650-BC71-47F6-68F8-BB473F33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44F0C851-0A77-9BC8-6A60-A8FD99BF8DCC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68DE7B5B-FB9E-F6F0-3FCD-BEDCF8FBB1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Threats to Validity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C2428215-EC1D-D4D3-396C-650CBEBA3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C28AA3B5-0A3E-CC43-927F-2143F8E48F29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BF26276D-35E0-2A70-878B-8CFEC2C777BD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102536CB-DBA2-089F-1D3F-54DD51525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1E6D32EA-F868-1E33-FB97-C6E69C3D132C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048882FC-36DA-C6BA-11F9-D11F58DA31CA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DCEF8CCF-247B-7507-9A60-4EF1C1555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67314D2C-9738-5529-0AFD-EB998372ABB7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F9DA84AB-8726-2741-2160-865B040F548D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310B60E8-6DFF-B75D-5116-E76039DC61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9152D6CB-F013-70BD-CFE0-84FDF285A6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BF10021C-F010-19EB-4ED0-CA574EC6492A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A0E8752B-355C-8617-9BEF-7ABD2CE8C76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92A2B8A8-116F-D0E1-D9AA-DB356B1200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87DB95-6109-0F38-BF6A-8425044A6B43}"/>
              </a:ext>
            </a:extLst>
          </p:cNvPr>
          <p:cNvSpPr txBox="1"/>
          <p:nvPr/>
        </p:nvSpPr>
        <p:spPr>
          <a:xfrm>
            <a:off x="3246582" y="1557474"/>
            <a:ext cx="6511636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Limitations and Threats to Validity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6DBAB4-B58D-53D9-A0FC-BC19FC10596C}"/>
              </a:ext>
            </a:extLst>
          </p:cNvPr>
          <p:cNvSpPr txBox="1"/>
          <p:nvPr/>
        </p:nvSpPr>
        <p:spPr>
          <a:xfrm>
            <a:off x="935480" y="3012648"/>
            <a:ext cx="1142352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Single Project: </a:t>
            </a:r>
            <a:r>
              <a:rPr lang="en-US" dirty="0"/>
              <a:t>The study evaluates Apache Ignite. Other projects might differently challenge an LLM.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7974C1-36EF-7841-795F-F8DD2D825DE9}"/>
              </a:ext>
            </a:extLst>
          </p:cNvPr>
          <p:cNvSpPr txBox="1"/>
          <p:nvPr/>
        </p:nvSpPr>
        <p:spPr>
          <a:xfrm>
            <a:off x="935480" y="4258210"/>
            <a:ext cx="11423521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Artificial Regressions: </a:t>
            </a:r>
            <a:r>
              <a:rPr lang="en-US" dirty="0" err="1"/>
              <a:t>Blackhole.consumeCPU</a:t>
            </a:r>
            <a:r>
              <a:rPr lang="en-US" dirty="0"/>
              <a:t>() is a synthetic CPU stressor, not a semantic memory leak or algorithmic logical bug.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799B71-4C27-7536-43A4-E03A688CAC61}"/>
              </a:ext>
            </a:extLst>
          </p:cNvPr>
          <p:cNvSpPr txBox="1"/>
          <p:nvPr/>
        </p:nvSpPr>
        <p:spPr>
          <a:xfrm>
            <a:off x="895853" y="5919270"/>
            <a:ext cx="11383893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Generative constraints: </a:t>
            </a:r>
            <a:r>
              <a:rPr lang="en-US" dirty="0"/>
              <a:t>We provided a high-quality prompt, which implies the AI still requires good developer directions to work this well.</a:t>
            </a:r>
          </a:p>
        </p:txBody>
      </p:sp>
    </p:spTree>
    <p:extLst>
      <p:ext uri="{BB962C8B-B14F-4D97-AF65-F5344CB8AC3E}">
        <p14:creationId xmlns:p14="http://schemas.microsoft.com/office/powerpoint/2010/main" val="341857544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25FA4-0488-6845-B5C0-CFECB3525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tangolo">
            <a:extLst>
              <a:ext uri="{FF2B5EF4-FFF2-40B4-BE49-F238E27FC236}">
                <a16:creationId xmlns:a16="http://schemas.microsoft.com/office/drawing/2014/main" id="{34AFAC29-7523-1931-393B-01DB10AC6128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Titolo tesi">
            <a:extLst>
              <a:ext uri="{FF2B5EF4-FFF2-40B4-BE49-F238E27FC236}">
                <a16:creationId xmlns:a16="http://schemas.microsoft.com/office/drawing/2014/main" id="{C6395083-0A43-09B6-22F3-8D5C30070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Conclusions and Future Work</a:t>
            </a:r>
            <a:endParaRPr sz="6000" dirty="0">
              <a:solidFill>
                <a:schemeClr val="bg1"/>
              </a:solidFill>
            </a:endParaRPr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4AD48367-5AC1-55A4-6CB2-87A1C3B10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aggruppa">
            <a:extLst>
              <a:ext uri="{FF2B5EF4-FFF2-40B4-BE49-F238E27FC236}">
                <a16:creationId xmlns:a16="http://schemas.microsoft.com/office/drawing/2014/main" id="{A5D5CA96-7C33-C4C4-3F81-B2F337F5A35D}"/>
              </a:ext>
            </a:extLst>
          </p:cNvPr>
          <p:cNvGrpSpPr/>
          <p:nvPr/>
        </p:nvGrpSpPr>
        <p:grpSpPr>
          <a:xfrm>
            <a:off x="602224" y="17071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F854E449-24A6-77D3-ADE8-AAE9F190FA4F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1977E4B3-A419-867A-3333-5C2266ADC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466664BB-2ABE-2E15-B5F7-0E0B7706013D}"/>
              </a:ext>
            </a:extLst>
          </p:cNvPr>
          <p:cNvGrpSpPr/>
          <p:nvPr/>
        </p:nvGrpSpPr>
        <p:grpSpPr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829356EC-0976-3777-B5C8-6EA498C1EF85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F351C3B4-3093-6352-0B93-7D6D82DAB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6161EBB5-80DC-4039-7A5A-249DD2293020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00390A84-EBF9-0B61-A7C1-22A813EB1C4D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0C3164FA-5C2D-958E-56D9-A840FA81A7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1343F079-0845-8616-4CBB-EDCEB9208D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ECBCA862-E640-FFED-77B9-E2E4AB7465D8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BD4A04A5-63F2-757E-7BDE-94D568A0999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260FCB73-517C-5BBB-9A40-A18B6AC48F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92CCCC-437F-6926-6A35-A0B825E51B38}"/>
              </a:ext>
            </a:extLst>
          </p:cNvPr>
          <p:cNvSpPr txBox="1"/>
          <p:nvPr/>
        </p:nvSpPr>
        <p:spPr>
          <a:xfrm>
            <a:off x="1112440" y="1682806"/>
            <a:ext cx="11347185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Conclusion: </a:t>
            </a:r>
            <a:r>
              <a:rPr lang="en-US" i="1" dirty="0"/>
              <a:t>AI-generated JMH microbenchmarks are statistically just as effective as human-written ones for regression detection in complex systems.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94463A-815B-4616-9D98-BFAB95CEE8F5}"/>
              </a:ext>
            </a:extLst>
          </p:cNvPr>
          <p:cNvSpPr txBox="1"/>
          <p:nvPr/>
        </p:nvSpPr>
        <p:spPr>
          <a:xfrm>
            <a:off x="1112440" y="3880370"/>
            <a:ext cx="11592177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Contribution: </a:t>
            </a:r>
            <a:r>
              <a:rPr lang="en-US" i="1" dirty="0"/>
              <a:t>This work provides an open-source evaluation methodology, proving that LLMs can drastically reduce the cost of creating performance tracking infrastructures.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1063B5-B252-B0C3-5AB1-10C1427C8A38}"/>
              </a:ext>
            </a:extLst>
          </p:cNvPr>
          <p:cNvSpPr txBox="1"/>
          <p:nvPr/>
        </p:nvSpPr>
        <p:spPr>
          <a:xfrm>
            <a:off x="1112440" y="6077935"/>
            <a:ext cx="11286117" cy="1338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Future Work: </a:t>
            </a:r>
            <a:r>
              <a:rPr lang="en-US" i="1" dirty="0"/>
              <a:t>Testing on other software domains.</a:t>
            </a:r>
            <a:br>
              <a:rPr lang="en-US" i="1" dirty="0"/>
            </a:br>
            <a:r>
              <a:rPr lang="en-US" i="1" dirty="0"/>
              <a:t>Evaluating natural regressions instead of synthetic injections.</a:t>
            </a:r>
            <a:br>
              <a:rPr lang="en-US" i="1" dirty="0"/>
            </a:br>
            <a:r>
              <a:rPr lang="en-US" i="1" dirty="0"/>
              <a:t>Link the automation with AMBER</a:t>
            </a:r>
          </a:p>
        </p:txBody>
      </p:sp>
    </p:spTree>
    <p:extLst>
      <p:ext uri="{BB962C8B-B14F-4D97-AF65-F5344CB8AC3E}">
        <p14:creationId xmlns:p14="http://schemas.microsoft.com/office/powerpoint/2010/main" val="33267213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49D20-EF79-31C6-0619-8CEB5973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olo tesi">
            <a:extLst>
              <a:ext uri="{FF2B5EF4-FFF2-40B4-BE49-F238E27FC236}">
                <a16:creationId xmlns:a16="http://schemas.microsoft.com/office/drawing/2014/main" id="{C1190A43-303E-6F4C-D02B-2AA5EA2D52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4600" y="439172"/>
            <a:ext cx="6095600" cy="47522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Context</a:t>
            </a:r>
            <a:endParaRPr sz="6000" dirty="0">
              <a:solidFill>
                <a:schemeClr val="bg1"/>
              </a:solidFill>
            </a:endParaRPr>
          </a:p>
        </p:txBody>
      </p:sp>
      <p:grpSp>
        <p:nvGrpSpPr>
          <p:cNvPr id="192" name="Raggruppa">
            <a:extLst>
              <a:ext uri="{FF2B5EF4-FFF2-40B4-BE49-F238E27FC236}">
                <a16:creationId xmlns:a16="http://schemas.microsoft.com/office/drawing/2014/main" id="{395637BC-0C2D-B34A-5C99-F052B4C13E07}"/>
              </a:ext>
            </a:extLst>
          </p:cNvPr>
          <p:cNvGrpSpPr/>
          <p:nvPr/>
        </p:nvGrpSpPr>
        <p:grpSpPr>
          <a:xfrm>
            <a:off x="131634" y="166567"/>
            <a:ext cx="1020435" cy="1020436"/>
            <a:chOff x="0" y="0"/>
            <a:chExt cx="1020434" cy="1020434"/>
          </a:xfrm>
        </p:grpSpPr>
        <p:sp>
          <p:nvSpPr>
            <p:cNvPr id="190" name="Cerchio">
              <a:extLst>
                <a:ext uri="{FF2B5EF4-FFF2-40B4-BE49-F238E27FC236}">
                  <a16:creationId xmlns:a16="http://schemas.microsoft.com/office/drawing/2014/main" id="{4E7F2F08-9F5A-4846-578D-93D6D8FFC37E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1" name="image2.tif" descr="image2.tif">
              <a:extLst>
                <a:ext uri="{FF2B5EF4-FFF2-40B4-BE49-F238E27FC236}">
                  <a16:creationId xmlns:a16="http://schemas.microsoft.com/office/drawing/2014/main" id="{BB999BB3-3E3C-75D8-0E0C-94EF9231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Rettangolo">
            <a:extLst>
              <a:ext uri="{FF2B5EF4-FFF2-40B4-BE49-F238E27FC236}">
                <a16:creationId xmlns:a16="http://schemas.microsoft.com/office/drawing/2014/main" id="{B3DED192-3A66-B29D-9E62-A5F5B7F8147C}"/>
              </a:ext>
            </a:extLst>
          </p:cNvPr>
          <p:cNvSpPr/>
          <p:nvPr/>
        </p:nvSpPr>
        <p:spPr>
          <a:xfrm>
            <a:off x="10297885" y="2178"/>
            <a:ext cx="2706916" cy="9764918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2F2F2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196" name="Raggruppa">
            <a:extLst>
              <a:ext uri="{FF2B5EF4-FFF2-40B4-BE49-F238E27FC236}">
                <a16:creationId xmlns:a16="http://schemas.microsoft.com/office/drawing/2014/main" id="{D18B9AA6-F172-1AA7-406A-F21D41D133ED}"/>
              </a:ext>
            </a:extLst>
          </p:cNvPr>
          <p:cNvGrpSpPr/>
          <p:nvPr/>
        </p:nvGrpSpPr>
        <p:grpSpPr>
          <a:xfrm>
            <a:off x="1308864" y="112196"/>
            <a:ext cx="1083420" cy="1129176"/>
            <a:chOff x="0" y="0"/>
            <a:chExt cx="1083419" cy="1129175"/>
          </a:xfrm>
        </p:grpSpPr>
        <p:sp>
          <p:nvSpPr>
            <p:cNvPr id="194" name="Ovale">
              <a:extLst>
                <a:ext uri="{FF2B5EF4-FFF2-40B4-BE49-F238E27FC236}">
                  <a16:creationId xmlns:a16="http://schemas.microsoft.com/office/drawing/2014/main" id="{B3A8175C-6593-A0E5-0600-F60438E4DFA6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95" name="image1.tif" descr="image1.tif">
              <a:extLst>
                <a:ext uri="{FF2B5EF4-FFF2-40B4-BE49-F238E27FC236}">
                  <a16:creationId xmlns:a16="http://schemas.microsoft.com/office/drawing/2014/main" id="{25887D35-1B95-A4FC-E8BB-39D803827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293" r="24200" b="37033"/>
            <a:stretch>
              <a:fillRect/>
            </a:stretch>
          </p:blipFill>
          <p:spPr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" name="Rettangolo">
            <a:extLst>
              <a:ext uri="{FF2B5EF4-FFF2-40B4-BE49-F238E27FC236}">
                <a16:creationId xmlns:a16="http://schemas.microsoft.com/office/drawing/2014/main" id="{2A48641D-F073-806F-6DC6-F379F6DB3931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89" name="image2.png" descr="image2.png">
            <a:extLst>
              <a:ext uri="{FF2B5EF4-FFF2-40B4-BE49-F238E27FC236}">
                <a16:creationId xmlns:a16="http://schemas.microsoft.com/office/drawing/2014/main" id="{5569EEE9-DFEE-8666-8DE1-A4B9B1370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email@studenti.unisa.it…">
            <a:extLst>
              <a:ext uri="{FF2B5EF4-FFF2-40B4-BE49-F238E27FC236}">
                <a16:creationId xmlns:a16="http://schemas.microsoft.com/office/drawing/2014/main" id="{6ADE7745-43F3-6BF9-AB5C-15ADB751EA24}"/>
              </a:ext>
            </a:extLst>
          </p:cNvPr>
          <p:cNvSpPr txBox="1"/>
          <p:nvPr/>
        </p:nvSpPr>
        <p:spPr>
          <a:xfrm>
            <a:off x="983157" y="8528015"/>
            <a:ext cx="3725379" cy="106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uFill>
                  <a:solidFill>
                    <a:srgbClr val="0432FF"/>
                  </a:solidFill>
                </a:uFill>
                <a:latin typeface="+mj-lt"/>
                <a:ea typeface="+mj-ea"/>
                <a:cs typeface="+mj-cs"/>
                <a:sym typeface="Helvetica Neue"/>
              </a:defRPr>
            </a:pPr>
            <a:r>
              <a:rPr lang="en-US" sz="1800" dirty="0">
                <a:solidFill>
                  <a:schemeClr val="bg1"/>
                </a:solidFill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o.boukhachem@studenti.unisa.it</a:t>
            </a:r>
            <a:br>
              <a:rPr lang="en-US" sz="1800" dirty="0">
                <a:solidFill>
                  <a:schemeClr val="bg1"/>
                </a:solidFill>
                <a:sym typeface="Helvetica Neue"/>
              </a:rPr>
            </a:br>
            <a:r>
              <a:rPr lang="it-IT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800" dirty="0">
                <a:solidFill>
                  <a:schemeClr val="bg1"/>
                </a:solidFill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 </a:t>
            </a:r>
            <a:endParaRPr dirty="0">
              <a:solidFill>
                <a:schemeClr val="bg1"/>
              </a:solidFill>
            </a:endParaRPr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rPr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oussama-boukhachem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world-wide-web.png" descr="world-wide-web.png">
            <a:extLst>
              <a:ext uri="{FF2B5EF4-FFF2-40B4-BE49-F238E27FC236}">
                <a16:creationId xmlns:a16="http://schemas.microsoft.com/office/drawing/2014/main" id="{FB543746-23E9-941E-6E96-9C6AB33E68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email.png" descr="email.png">
            <a:extLst>
              <a:ext uri="{FF2B5EF4-FFF2-40B4-BE49-F238E27FC236}">
                <a16:creationId xmlns:a16="http://schemas.microsoft.com/office/drawing/2014/main" id="{A23FC763-47AE-F71C-2518-AE13B4CF7C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QR code che riporta al PDF della tua tesi —&gt;">
            <a:extLst>
              <a:ext uri="{FF2B5EF4-FFF2-40B4-BE49-F238E27FC236}">
                <a16:creationId xmlns:a16="http://schemas.microsoft.com/office/drawing/2014/main" id="{AACF38A8-20F0-BAA8-B192-6449A85420BF}"/>
              </a:ext>
            </a:extLst>
          </p:cNvPr>
          <p:cNvSpPr txBox="1"/>
          <p:nvPr/>
        </p:nvSpPr>
        <p:spPr>
          <a:xfrm>
            <a:off x="8296266" y="8860413"/>
            <a:ext cx="3181433" cy="404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it-IT" dirty="0"/>
              <a:t>Get the thesis PDF file</a:t>
            </a:r>
            <a:r>
              <a:rPr dirty="0"/>
              <a:t>—&gt;</a:t>
            </a:r>
          </a:p>
        </p:txBody>
      </p:sp>
      <p:pic>
        <p:nvPicPr>
          <p:cNvPr id="14" name="Immagine">
            <a:extLst>
              <a:ext uri="{FF2B5EF4-FFF2-40B4-BE49-F238E27FC236}">
                <a16:creationId xmlns:a16="http://schemas.microsoft.com/office/drawing/2014/main" id="{C88E1DB5-8DC4-8425-F226-AF192A8B350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90927" y="8467673"/>
            <a:ext cx="1200182" cy="1200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linkedin(1).png" descr="linkedin(1).png">
            <a:extLst>
              <a:ext uri="{FF2B5EF4-FFF2-40B4-BE49-F238E27FC236}">
                <a16:creationId xmlns:a16="http://schemas.microsoft.com/office/drawing/2014/main" id="{07127A37-AD95-959D-0409-E6AB52064C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185410-819B-3EE0-0153-993F9223643D}"/>
              </a:ext>
            </a:extLst>
          </p:cNvPr>
          <p:cNvSpPr txBox="1"/>
          <p:nvPr/>
        </p:nvSpPr>
        <p:spPr>
          <a:xfrm>
            <a:off x="2549079" y="353617"/>
            <a:ext cx="8760765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dirty="0"/>
              <a:t>Comparing handwritten and AI-generated microbenchmarks for performance regression detection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79B300-97F6-B992-641C-A929884207C2}"/>
              </a:ext>
            </a:extLst>
          </p:cNvPr>
          <p:cNvSpPr txBox="1"/>
          <p:nvPr/>
        </p:nvSpPr>
        <p:spPr>
          <a:xfrm>
            <a:off x="2062318" y="3787271"/>
            <a:ext cx="6511636" cy="10895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7200" dirty="0"/>
              <a:t>THANK YOU !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56732180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2346</Words>
  <Application>Microsoft Office PowerPoint</Application>
  <PresentationFormat>Custom</PresentationFormat>
  <Paragraphs>266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Helvetica</vt:lpstr>
      <vt:lpstr>Helvetica Neue</vt:lpstr>
      <vt:lpstr>Helvetica Neue Medium</vt:lpstr>
      <vt:lpstr>Lucida Grande</vt:lpstr>
      <vt:lpstr>White</vt:lpstr>
      <vt:lpstr>Image</vt:lpstr>
      <vt:lpstr>Comparing handwritten and AI-generated microbenchmarks for performance regression detection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Context &amp; Motivation</vt:lpstr>
      <vt:lpstr>Objective and Case Study</vt:lpstr>
      <vt:lpstr>Objective and Case Study</vt:lpstr>
      <vt:lpstr>Objective and Case Study</vt:lpstr>
      <vt:lpstr>Objective and Case Study</vt:lpstr>
      <vt:lpstr>Objective and Case Study</vt:lpstr>
      <vt:lpstr>Prompt Engineering &amp; AI Benchmark Generation</vt:lpstr>
      <vt:lpstr>Prompt Engineering &amp; AI Benchmark Generation</vt:lpstr>
      <vt:lpstr>Prompt Engineering &amp; AI Benchmark Generation</vt:lpstr>
      <vt:lpstr>Prompt Engineering &amp; AI Benchmark Generation</vt:lpstr>
      <vt:lpstr>Experimental Setup</vt:lpstr>
      <vt:lpstr>Experimental Setup</vt:lpstr>
      <vt:lpstr>Injecting the Regression</vt:lpstr>
      <vt:lpstr>Injecting the Regression</vt:lpstr>
      <vt:lpstr>Injecting the Regression</vt:lpstr>
      <vt:lpstr>Statistical Analysis</vt:lpstr>
      <vt:lpstr>Statistical Analysis</vt:lpstr>
      <vt:lpstr>Key Findings (Detection Rate)</vt:lpstr>
      <vt:lpstr>Key Findings (Detection Rate)</vt:lpstr>
      <vt:lpstr>Key Findings (Behavioral Equivalence)</vt:lpstr>
      <vt:lpstr>Key Findings (Behavioral Equivalence)</vt:lpstr>
      <vt:lpstr>Key Findings (Behavioral Equivalence)</vt:lpstr>
      <vt:lpstr>Key Findings (Behavioral Equivalence)</vt:lpstr>
      <vt:lpstr>Threats to Validity</vt:lpstr>
      <vt:lpstr>Conclusions and Future Work</vt:lpstr>
      <vt:lpstr>Context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OUSSAMA BOUKHACHEM</cp:lastModifiedBy>
  <cp:revision>4</cp:revision>
  <dcterms:modified xsi:type="dcterms:W3CDTF">2026-03-23T23:12:16Z</dcterms:modified>
</cp:coreProperties>
</file>