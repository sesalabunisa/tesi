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004800" cy="9753600"/>
  <p:notesSz cx="6858000" cy="9144000"/>
  <p:defaultTextStyle>
    <a:defPPr marL="0" marR="0" indent="0" algn="l" defTabSz="91440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1pPr>
    <a:lvl2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2pPr>
    <a:lvl3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3pPr>
    <a:lvl4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4pPr>
    <a:lvl5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5pPr>
    <a:lvl6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6pPr>
    <a:lvl7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7pPr>
    <a:lvl8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8pPr>
    <a:lvl9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925646048" y="0"/>
      </p:cViewPr>
      <p:guideLst>
        <p:guide pos="4096"/>
        <p:guide pos="3072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1474219" name="Shape 173"/>
          <p:cNvSpPr/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292369" name="Shape 174"/>
          <p:cNvSpPr/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defRPr sz="2200">
        <a:latin typeface="Lucida Grande"/>
        <a:ea typeface="Lucida Grande"/>
        <a:cs typeface="Lucida Grande"/>
      </a:defRPr>
    </a:lvl1pPr>
    <a:lvl2pPr indent="457200" defTabSz="457200">
      <a:defRPr sz="2200">
        <a:latin typeface="Lucida Grande"/>
        <a:ea typeface="Lucida Grande"/>
        <a:cs typeface="Lucida Grande"/>
      </a:defRPr>
    </a:lvl2pPr>
    <a:lvl3pPr indent="914400" defTabSz="457200">
      <a:defRPr sz="2200">
        <a:latin typeface="Lucida Grande"/>
        <a:ea typeface="Lucida Grande"/>
        <a:cs typeface="Lucida Grande"/>
      </a:defRPr>
    </a:lvl3pPr>
    <a:lvl4pPr indent="1371600" defTabSz="457200">
      <a:defRPr sz="2200">
        <a:latin typeface="Lucida Grande"/>
        <a:ea typeface="Lucida Grande"/>
        <a:cs typeface="Lucida Grande"/>
      </a:defRPr>
    </a:lvl4pPr>
    <a:lvl5pPr indent="1828800" defTabSz="457200">
      <a:defRPr sz="2200">
        <a:latin typeface="Lucida Grande"/>
        <a:ea typeface="Lucida Grande"/>
        <a:cs typeface="Lucida Grande"/>
      </a:defRPr>
    </a:lvl5pPr>
    <a:lvl6pPr indent="2286000" defTabSz="457200">
      <a:defRPr sz="2200">
        <a:latin typeface="Lucida Grande"/>
        <a:ea typeface="Lucida Grande"/>
        <a:cs typeface="Lucida Grande"/>
      </a:defRPr>
    </a:lvl6pPr>
    <a:lvl7pPr indent="2743200" defTabSz="457200">
      <a:defRPr sz="2200">
        <a:latin typeface="Lucida Grande"/>
        <a:ea typeface="Lucida Grande"/>
        <a:cs typeface="Lucida Grande"/>
      </a:defRPr>
    </a:lvl7pPr>
    <a:lvl8pPr indent="3200400" defTabSz="457200">
      <a:defRPr sz="2200">
        <a:latin typeface="Lucida Grande"/>
        <a:ea typeface="Lucida Grande"/>
        <a:cs typeface="Lucida Grande"/>
      </a:defRPr>
    </a:lvl8pPr>
    <a:lvl9pPr indent="3657600" defTabSz="457200">
      <a:defRPr sz="2200">
        <a:latin typeface="Lucida Grande"/>
        <a:ea typeface="Lucida Grande"/>
        <a:cs typeface="Lucida Grande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3825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43066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Qui si può svrivere</a:t>
            </a:r>
            <a:endParaRPr/>
          </a:p>
        </p:txBody>
      </p:sp>
      <p:sp>
        <p:nvSpPr>
          <p:cNvPr id="204283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919BF1-8851-CBE1-3169-90874965474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853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264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5119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A789-5819-AAE3-8B9A-574CDBC5EC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7908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69615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048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7CEDC4-6953-EFCD-C6BE-34494ED0E0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503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14699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0115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17125F-6472-C01B-0A88-B259032C9C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3373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6077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158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CFFA74-DFCC-9FD1-4814-FD0B0F2738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319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7317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372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C10CA2-8178-6DAC-30A4-1860E61D5B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948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3384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184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8F9C8C-4CE4-8E72-9615-C7F8FD996B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8995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485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608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B5255-12E5-C01D-E1DF-21BD1F2D6E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3893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89083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205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31CC9-A992-B848-4F9C-F19575076B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1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950299" name="Shape 332"/>
          <p:cNvSpPr/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202512" name="Shape 333"/>
          <p:cNvSpPr/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Inserisci in questa slide riassuntiva gli screenshot delle parti salienti della tua presentazione. In questo modo, chi ti ascolta avrà una panoramica completa del tuo lavoro di tesi.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fpecorelli@unisa.it" TargetMode="External"/><Relationship Id="rId5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fpecorelli@unisa.it" TargetMode="External"/><Relationship Id="rId5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015004" name="Rettangolo"/>
          <p:cNvSpPr txBox="1"/>
          <p:nvPr>
            <p:ph type="body" sz="quarter" idx="21"/>
          </p:nvPr>
        </p:nvSpPr>
        <p:spPr bwMode="auto">
          <a:xfrm>
            <a:off x="698500" y="5105400"/>
            <a:ext cx="11607800" cy="1456399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17957258" name="Titolo Testo"/>
          <p:cNvSpPr txBox="1"/>
          <p:nvPr>
            <p:ph type="title"/>
          </p:nvPr>
        </p:nvSpPr>
        <p:spPr bwMode="auto">
          <a:xfrm>
            <a:off x="698500" y="1854200"/>
            <a:ext cx="11609059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pPr>
              <a:defRPr/>
            </a:pPr>
            <a:r>
              <a:rPr/>
              <a:t>Titolo Testo</a:t>
            </a:r>
            <a:endParaRPr/>
          </a:p>
        </p:txBody>
      </p:sp>
      <p:sp>
        <p:nvSpPr>
          <p:cNvPr id="211463889" name="Corpo livello uno…"/>
          <p:cNvSpPr txBox="1"/>
          <p:nvPr>
            <p:ph type="body" sz="quarter" idx="1"/>
          </p:nvPr>
        </p:nvSpPr>
        <p:spPr bwMode="auto">
          <a:xfrm>
            <a:off x="698500" y="8657487"/>
            <a:ext cx="11607801" cy="461062"/>
          </a:xfrm>
          <a:prstGeom prst="rect">
            <a:avLst/>
          </a:prstGeom>
        </p:spPr>
        <p:txBody>
          <a:bodyPr numCol="1" spcCol="38100" anchor="b"/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1197160207" name="Numero diapositiva"/>
          <p:cNvSpPr txBox="1"/>
          <p:nvPr>
            <p:ph type="sldNum" sz="quarter" idx="2"/>
          </p:nvPr>
        </p:nvSpPr>
        <p:spPr bwMode="auto">
          <a:xfrm>
            <a:off x="5867399" y="8237678"/>
            <a:ext cx="1270000" cy="12700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Solo titolo">
    <p:bg>
      <p:bgPr shadeToTitle="0">
        <a:blipFill rotWithShape="1">
          <a:blip r:embed="rId2"/>
          <a:srcRect l="0" t="0" r="0" b="0"/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605725" name="Rettangolo"/>
          <p:cNvSpPr/>
          <p:nvPr/>
        </p:nvSpPr>
        <p:spPr bwMode="auto"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021466547" name="Rettangolo"/>
          <p:cNvSpPr/>
          <p:nvPr/>
        </p:nvSpPr>
        <p:spPr bwMode="auto"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70296767" name="Rettangolo"/>
          <p:cNvSpPr/>
          <p:nvPr/>
        </p:nvSpPr>
        <p:spPr bwMode="auto">
          <a:xfrm>
            <a:off x="-6928" y="1888"/>
            <a:ext cx="13018657" cy="4876805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pic>
        <p:nvPicPr>
          <p:cNvPr id="988198450" name="image2.png" descr="image2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49490" y="149170"/>
            <a:ext cx="2208781" cy="1063531"/>
          </a:xfrm>
          <a:prstGeom prst="rect">
            <a:avLst/>
          </a:prstGeom>
          <a:ln w="12700">
            <a:miter lim="400000"/>
          </a:ln>
        </p:spPr>
      </p:pic>
      <p:sp>
        <p:nvSpPr>
          <p:cNvPr id="1403001265" name="fpecorelli@unisa.it…"/>
          <p:cNvSpPr txBox="1"/>
          <p:nvPr/>
        </p:nvSpPr>
        <p:spPr bwMode="auto">
          <a:xfrm>
            <a:off x="708161" y="8560997"/>
            <a:ext cx="4735013" cy="10541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 u="sng">
                <a:solidFill>
                  <a:srgbClr val="0432FF"/>
                </a:solidFill>
              </a:defRPr>
            </a:pPr>
            <a:r>
              <a:rPr u="sng">
                <a:hlinkClick r:id="rId4" tooltip=""/>
              </a:rPr>
              <a:t>fpecorelli@unisa.it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rPr/>
              <a:t>https://fabiano-pecorelli.github.io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rPr/>
              <a:t>@FabianoPecorel1</a:t>
            </a:r>
            <a:endParaRPr/>
          </a:p>
        </p:txBody>
      </p:sp>
      <p:sp>
        <p:nvSpPr>
          <p:cNvPr id="759554148" name="Forma"/>
          <p:cNvSpPr/>
          <p:nvPr/>
        </p:nvSpPr>
        <p:spPr bwMode="auto">
          <a:xfrm>
            <a:off x="285325" y="8702940"/>
            <a:ext cx="254004" cy="1605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000000">
              <a:alpha val="98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319180314" name="Forma"/>
          <p:cNvSpPr/>
          <p:nvPr/>
        </p:nvSpPr>
        <p:spPr bwMode="auto">
          <a:xfrm>
            <a:off x="285325" y="8961048"/>
            <a:ext cx="254004" cy="2540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45" y="0"/>
                  <a:pt x="0" y="4845"/>
                  <a:pt x="0" y="10800"/>
                </a:cubicBezTo>
                <a:cubicBezTo>
                  <a:pt x="0" y="16755"/>
                  <a:pt x="4845" y="21600"/>
                  <a:pt x="10800" y="21600"/>
                </a:cubicBezTo>
                <a:cubicBezTo>
                  <a:pt x="16755" y="21600"/>
                  <a:pt x="21600" y="16755"/>
                  <a:pt x="21600" y="10800"/>
                </a:cubicBezTo>
                <a:cubicBezTo>
                  <a:pt x="21600" y="4845"/>
                  <a:pt x="16755" y="0"/>
                  <a:pt x="10800" y="0"/>
                </a:cubicBezTo>
                <a:close/>
                <a:moveTo>
                  <a:pt x="11993" y="938"/>
                </a:moveTo>
                <a:cubicBezTo>
                  <a:pt x="14122" y="1194"/>
                  <a:pt x="16044" y="2125"/>
                  <a:pt x="17542" y="3512"/>
                </a:cubicBezTo>
                <a:cubicBezTo>
                  <a:pt x="16898" y="4108"/>
                  <a:pt x="16188" y="4611"/>
                  <a:pt x="15429" y="5012"/>
                </a:cubicBezTo>
                <a:cubicBezTo>
                  <a:pt x="15343" y="4850"/>
                  <a:pt x="15255" y="4689"/>
                  <a:pt x="15162" y="4531"/>
                </a:cubicBezTo>
                <a:cubicBezTo>
                  <a:pt x="14347" y="3140"/>
                  <a:pt x="13267" y="1918"/>
                  <a:pt x="11993" y="938"/>
                </a:cubicBezTo>
                <a:close/>
                <a:moveTo>
                  <a:pt x="9560" y="943"/>
                </a:moveTo>
                <a:cubicBezTo>
                  <a:pt x="8289" y="1922"/>
                  <a:pt x="7211" y="3142"/>
                  <a:pt x="6397" y="4531"/>
                </a:cubicBezTo>
                <a:cubicBezTo>
                  <a:pt x="6308" y="4684"/>
                  <a:pt x="6222" y="4839"/>
                  <a:pt x="6139" y="4995"/>
                </a:cubicBezTo>
                <a:cubicBezTo>
                  <a:pt x="5392" y="4597"/>
                  <a:pt x="4693" y="4100"/>
                  <a:pt x="4058" y="3512"/>
                </a:cubicBezTo>
                <a:cubicBezTo>
                  <a:pt x="5545" y="2136"/>
                  <a:pt x="7450" y="1207"/>
                  <a:pt x="9560" y="943"/>
                </a:cubicBezTo>
                <a:close/>
                <a:moveTo>
                  <a:pt x="10366" y="1421"/>
                </a:moveTo>
                <a:lnTo>
                  <a:pt x="10366" y="6141"/>
                </a:lnTo>
                <a:cubicBezTo>
                  <a:pt x="9165" y="6090"/>
                  <a:pt x="8002" y="5827"/>
                  <a:pt x="6920" y="5368"/>
                </a:cubicBezTo>
                <a:cubicBezTo>
                  <a:pt x="6992" y="5234"/>
                  <a:pt x="7066" y="5100"/>
                  <a:pt x="7143" y="4968"/>
                </a:cubicBezTo>
                <a:cubicBezTo>
                  <a:pt x="7960" y="3575"/>
                  <a:pt x="9062" y="2365"/>
                  <a:pt x="10366" y="1421"/>
                </a:cubicBezTo>
                <a:close/>
                <a:moveTo>
                  <a:pt x="11234" y="1451"/>
                </a:moveTo>
                <a:cubicBezTo>
                  <a:pt x="12520" y="2391"/>
                  <a:pt x="13607" y="3589"/>
                  <a:pt x="14415" y="4968"/>
                </a:cubicBezTo>
                <a:cubicBezTo>
                  <a:pt x="14495" y="5104"/>
                  <a:pt x="14572" y="5244"/>
                  <a:pt x="14646" y="5383"/>
                </a:cubicBezTo>
                <a:cubicBezTo>
                  <a:pt x="13574" y="5833"/>
                  <a:pt x="12424" y="6090"/>
                  <a:pt x="11234" y="6141"/>
                </a:cubicBezTo>
                <a:lnTo>
                  <a:pt x="11234" y="1451"/>
                </a:lnTo>
                <a:close/>
                <a:moveTo>
                  <a:pt x="3448" y="4128"/>
                </a:moveTo>
                <a:cubicBezTo>
                  <a:pt x="4152" y="4783"/>
                  <a:pt x="4928" y="5335"/>
                  <a:pt x="5759" y="5775"/>
                </a:cubicBezTo>
                <a:cubicBezTo>
                  <a:pt x="5120" y="7219"/>
                  <a:pt x="4759" y="8779"/>
                  <a:pt x="4701" y="10368"/>
                </a:cubicBezTo>
                <a:lnTo>
                  <a:pt x="876" y="10368"/>
                </a:lnTo>
                <a:cubicBezTo>
                  <a:pt x="979" y="7972"/>
                  <a:pt x="1935" y="5793"/>
                  <a:pt x="3448" y="4128"/>
                </a:cubicBezTo>
                <a:close/>
                <a:moveTo>
                  <a:pt x="18152" y="4128"/>
                </a:moveTo>
                <a:cubicBezTo>
                  <a:pt x="19665" y="5793"/>
                  <a:pt x="20621" y="7972"/>
                  <a:pt x="20724" y="10368"/>
                </a:cubicBezTo>
                <a:lnTo>
                  <a:pt x="16858" y="10368"/>
                </a:lnTo>
                <a:cubicBezTo>
                  <a:pt x="16800" y="8785"/>
                  <a:pt x="16441" y="7231"/>
                  <a:pt x="15807" y="5792"/>
                </a:cubicBezTo>
                <a:cubicBezTo>
                  <a:pt x="16650" y="5349"/>
                  <a:pt x="17439" y="4792"/>
                  <a:pt x="18152" y="4128"/>
                </a:cubicBezTo>
                <a:close/>
                <a:moveTo>
                  <a:pt x="6541" y="6148"/>
                </a:moveTo>
                <a:cubicBezTo>
                  <a:pt x="7739" y="6662"/>
                  <a:pt x="9031" y="6956"/>
                  <a:pt x="10366" y="7008"/>
                </a:cubicBezTo>
                <a:lnTo>
                  <a:pt x="10366" y="10368"/>
                </a:lnTo>
                <a:lnTo>
                  <a:pt x="5569" y="10368"/>
                </a:lnTo>
                <a:cubicBezTo>
                  <a:pt x="5626" y="8908"/>
                  <a:pt x="5956" y="7475"/>
                  <a:pt x="6541" y="6148"/>
                </a:cubicBezTo>
                <a:close/>
                <a:moveTo>
                  <a:pt x="15024" y="6163"/>
                </a:moveTo>
                <a:cubicBezTo>
                  <a:pt x="15604" y="7486"/>
                  <a:pt x="15934" y="8914"/>
                  <a:pt x="15991" y="10368"/>
                </a:cubicBezTo>
                <a:lnTo>
                  <a:pt x="11234" y="10368"/>
                </a:lnTo>
                <a:lnTo>
                  <a:pt x="11234" y="7008"/>
                </a:lnTo>
                <a:cubicBezTo>
                  <a:pt x="12557" y="6956"/>
                  <a:pt x="13835" y="6668"/>
                  <a:pt x="15024" y="6163"/>
                </a:cubicBezTo>
                <a:close/>
                <a:moveTo>
                  <a:pt x="876" y="11234"/>
                </a:moveTo>
                <a:lnTo>
                  <a:pt x="4700" y="11234"/>
                </a:lnTo>
                <a:cubicBezTo>
                  <a:pt x="4753" y="12849"/>
                  <a:pt x="5119" y="14437"/>
                  <a:pt x="5773" y="15903"/>
                </a:cubicBezTo>
                <a:cubicBezTo>
                  <a:pt x="4953" y="16335"/>
                  <a:pt x="4185" y="16876"/>
                  <a:pt x="3488" y="17518"/>
                </a:cubicBezTo>
                <a:cubicBezTo>
                  <a:pt x="1952" y="15847"/>
                  <a:pt x="980" y="13652"/>
                  <a:pt x="876" y="11234"/>
                </a:cubicBezTo>
                <a:close/>
                <a:moveTo>
                  <a:pt x="5567" y="11234"/>
                </a:moveTo>
                <a:lnTo>
                  <a:pt x="10366" y="11234"/>
                </a:lnTo>
                <a:lnTo>
                  <a:pt x="10366" y="14676"/>
                </a:lnTo>
                <a:cubicBezTo>
                  <a:pt x="9036" y="14728"/>
                  <a:pt x="7749" y="15021"/>
                  <a:pt x="6554" y="15532"/>
                </a:cubicBezTo>
                <a:cubicBezTo>
                  <a:pt x="5955" y="14182"/>
                  <a:pt x="5619" y="12720"/>
                  <a:pt x="5567" y="11234"/>
                </a:cubicBezTo>
                <a:close/>
                <a:moveTo>
                  <a:pt x="11234" y="11234"/>
                </a:moveTo>
                <a:lnTo>
                  <a:pt x="15992" y="11234"/>
                </a:lnTo>
                <a:cubicBezTo>
                  <a:pt x="15940" y="12714"/>
                  <a:pt x="15605" y="14169"/>
                  <a:pt x="15010" y="15515"/>
                </a:cubicBezTo>
                <a:cubicBezTo>
                  <a:pt x="13825" y="15013"/>
                  <a:pt x="12552" y="14728"/>
                  <a:pt x="11234" y="14676"/>
                </a:cubicBezTo>
                <a:lnTo>
                  <a:pt x="11234" y="11234"/>
                </a:lnTo>
                <a:close/>
                <a:moveTo>
                  <a:pt x="16860" y="11234"/>
                </a:moveTo>
                <a:lnTo>
                  <a:pt x="20724" y="11234"/>
                </a:lnTo>
                <a:cubicBezTo>
                  <a:pt x="20620" y="13652"/>
                  <a:pt x="19648" y="15847"/>
                  <a:pt x="18112" y="17518"/>
                </a:cubicBezTo>
                <a:cubicBezTo>
                  <a:pt x="17406" y="16867"/>
                  <a:pt x="16627" y="16321"/>
                  <a:pt x="15795" y="15886"/>
                </a:cubicBezTo>
                <a:cubicBezTo>
                  <a:pt x="16444" y="14425"/>
                  <a:pt x="16807" y="12842"/>
                  <a:pt x="16860" y="11234"/>
                </a:cubicBezTo>
                <a:close/>
                <a:moveTo>
                  <a:pt x="10366" y="15544"/>
                </a:moveTo>
                <a:lnTo>
                  <a:pt x="10366" y="20226"/>
                </a:lnTo>
                <a:cubicBezTo>
                  <a:pt x="9026" y="19256"/>
                  <a:pt x="7899" y="18005"/>
                  <a:pt x="7077" y="16566"/>
                </a:cubicBezTo>
                <a:cubicBezTo>
                  <a:pt x="7029" y="16481"/>
                  <a:pt x="6982" y="16396"/>
                  <a:pt x="6936" y="16310"/>
                </a:cubicBezTo>
                <a:cubicBezTo>
                  <a:pt x="8013" y="15855"/>
                  <a:pt x="9170" y="15594"/>
                  <a:pt x="10366" y="15544"/>
                </a:cubicBezTo>
                <a:close/>
                <a:moveTo>
                  <a:pt x="11234" y="15544"/>
                </a:moveTo>
                <a:cubicBezTo>
                  <a:pt x="12418" y="15594"/>
                  <a:pt x="13563" y="15849"/>
                  <a:pt x="14631" y="16295"/>
                </a:cubicBezTo>
                <a:cubicBezTo>
                  <a:pt x="14582" y="16386"/>
                  <a:pt x="14532" y="16476"/>
                  <a:pt x="14480" y="16566"/>
                </a:cubicBezTo>
                <a:cubicBezTo>
                  <a:pt x="13667" y="17990"/>
                  <a:pt x="12556" y="19230"/>
                  <a:pt x="11234" y="20196"/>
                </a:cubicBezTo>
                <a:lnTo>
                  <a:pt x="11234" y="15544"/>
                </a:lnTo>
                <a:close/>
                <a:moveTo>
                  <a:pt x="15415" y="16666"/>
                </a:moveTo>
                <a:cubicBezTo>
                  <a:pt x="16162" y="17059"/>
                  <a:pt x="16861" y="17548"/>
                  <a:pt x="17498" y="18131"/>
                </a:cubicBezTo>
                <a:cubicBezTo>
                  <a:pt x="16023" y="19479"/>
                  <a:pt x="14143" y="20390"/>
                  <a:pt x="12062" y="20655"/>
                </a:cubicBezTo>
                <a:cubicBezTo>
                  <a:pt x="13343" y="19655"/>
                  <a:pt x="14426" y="18410"/>
                  <a:pt x="15233" y="16997"/>
                </a:cubicBezTo>
                <a:cubicBezTo>
                  <a:pt x="15295" y="16887"/>
                  <a:pt x="15356" y="16777"/>
                  <a:pt x="15415" y="16666"/>
                </a:cubicBezTo>
                <a:close/>
                <a:moveTo>
                  <a:pt x="6153" y="16683"/>
                </a:moveTo>
                <a:cubicBezTo>
                  <a:pt x="6209" y="16788"/>
                  <a:pt x="6267" y="16893"/>
                  <a:pt x="6326" y="16997"/>
                </a:cubicBezTo>
                <a:cubicBezTo>
                  <a:pt x="7132" y="18407"/>
                  <a:pt x="8212" y="19649"/>
                  <a:pt x="9489" y="20648"/>
                </a:cubicBezTo>
                <a:cubicBezTo>
                  <a:pt x="7428" y="20375"/>
                  <a:pt x="5565" y="19468"/>
                  <a:pt x="4102" y="18131"/>
                </a:cubicBezTo>
                <a:cubicBezTo>
                  <a:pt x="4730" y="17557"/>
                  <a:pt x="5418" y="17073"/>
                  <a:pt x="6153" y="16683"/>
                </a:cubicBezTo>
                <a:close/>
              </a:path>
            </a:pathLst>
          </a:custGeom>
          <a:solidFill>
            <a:srgbClr val="000000">
              <a:alpha val="98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pic>
        <p:nvPicPr>
          <p:cNvPr id="708980433" name="image3.png" descr="image3.png"/>
          <p:cNvPicPr>
            <a:picLocks noChangeAspect="1"/>
          </p:cNvPicPr>
          <p:nvPr/>
        </p:nvPicPr>
        <p:blipFill rotWithShape="1">
          <a:blip r:embed="rId5">
            <a:alphaModFix amt="98000"/>
          </a:blip>
          <a:stretch/>
        </p:blipFill>
        <p:spPr bwMode="auto">
          <a:xfrm>
            <a:off x="285325" y="9315094"/>
            <a:ext cx="254004" cy="254003"/>
          </a:xfrm>
          <a:prstGeom prst="rect">
            <a:avLst/>
          </a:prstGeom>
          <a:ln w="12700">
            <a:miter lim="400000"/>
          </a:ln>
        </p:spPr>
      </p:pic>
      <p:sp>
        <p:nvSpPr>
          <p:cNvPr id="361570328" name="Conference name…"/>
          <p:cNvSpPr txBox="1"/>
          <p:nvPr/>
        </p:nvSpPr>
        <p:spPr bwMode="auto">
          <a:xfrm>
            <a:off x="7877533" y="8560997"/>
            <a:ext cx="4735016" cy="10541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br>
              <a:rPr/>
            </a:br>
            <a:r>
              <a:rPr/>
              <a:t>Conference name</a:t>
            </a:r>
            <a:endParaRPr/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rPr/>
              <a:t>Venue, year</a:t>
            </a:r>
            <a:endParaRPr/>
          </a:p>
        </p:txBody>
      </p:sp>
      <p:sp>
        <p:nvSpPr>
          <p:cNvPr id="563122439" name="Introduction &amp; Background"/>
          <p:cNvSpPr txBox="1"/>
          <p:nvPr/>
        </p:nvSpPr>
        <p:spPr bwMode="auto">
          <a:xfrm>
            <a:off x="237473" y="3712259"/>
            <a:ext cx="11609060" cy="1016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1" spc="-119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Introduction &amp; Background</a:t>
            </a:r>
            <a:endParaRPr/>
          </a:p>
        </p:txBody>
      </p:sp>
      <p:sp>
        <p:nvSpPr>
          <p:cNvPr id="1336332590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Sezione">
    <p:bg>
      <p:bgPr shadeToTitle="0">
        <a:blipFill rotWithShape="1">
          <a:blip r:embed="rId2"/>
          <a:srcRect l="0" t="0" r="0" b="0"/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994145" name="Rettangolo"/>
          <p:cNvSpPr/>
          <p:nvPr/>
        </p:nvSpPr>
        <p:spPr bwMode="auto"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501323484" name="Rettangolo"/>
          <p:cNvSpPr/>
          <p:nvPr/>
        </p:nvSpPr>
        <p:spPr bwMode="auto"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pic>
        <p:nvPicPr>
          <p:cNvPr id="1806624853" name="image2.png" descr="image2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49490" y="149170"/>
            <a:ext cx="2208781" cy="1063531"/>
          </a:xfrm>
          <a:prstGeom prst="rect">
            <a:avLst/>
          </a:prstGeom>
          <a:ln w="12700">
            <a:miter lim="400000"/>
          </a:ln>
        </p:spPr>
      </p:pic>
      <p:sp>
        <p:nvSpPr>
          <p:cNvPr id="173914019" name="fpecorelli@unisa.it…"/>
          <p:cNvSpPr txBox="1"/>
          <p:nvPr/>
        </p:nvSpPr>
        <p:spPr bwMode="auto">
          <a:xfrm>
            <a:off x="708161" y="8560997"/>
            <a:ext cx="4735013" cy="10541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 u="sng">
                <a:solidFill>
                  <a:srgbClr val="0432FF"/>
                </a:solidFill>
              </a:defRPr>
            </a:pPr>
            <a:r>
              <a:rPr u="sng">
                <a:hlinkClick r:id="rId4" tooltip=""/>
              </a:rPr>
              <a:t>fpecorelli@unisa.it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rPr/>
              <a:t>https://fabiano-pecorelli.github.io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rPr/>
              <a:t>@FabianoPecorel1</a:t>
            </a:r>
            <a:endParaRPr/>
          </a:p>
        </p:txBody>
      </p:sp>
      <p:sp>
        <p:nvSpPr>
          <p:cNvPr id="51979934" name="Forma"/>
          <p:cNvSpPr/>
          <p:nvPr/>
        </p:nvSpPr>
        <p:spPr bwMode="auto">
          <a:xfrm>
            <a:off x="285325" y="8702940"/>
            <a:ext cx="254004" cy="1605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000000">
              <a:alpha val="98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822686911" name="Forma"/>
          <p:cNvSpPr/>
          <p:nvPr/>
        </p:nvSpPr>
        <p:spPr bwMode="auto">
          <a:xfrm>
            <a:off x="285325" y="8961048"/>
            <a:ext cx="254004" cy="2540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45" y="0"/>
                  <a:pt x="0" y="4845"/>
                  <a:pt x="0" y="10800"/>
                </a:cubicBezTo>
                <a:cubicBezTo>
                  <a:pt x="0" y="16755"/>
                  <a:pt x="4845" y="21600"/>
                  <a:pt x="10800" y="21600"/>
                </a:cubicBezTo>
                <a:cubicBezTo>
                  <a:pt x="16755" y="21600"/>
                  <a:pt x="21600" y="16755"/>
                  <a:pt x="21600" y="10800"/>
                </a:cubicBezTo>
                <a:cubicBezTo>
                  <a:pt x="21600" y="4845"/>
                  <a:pt x="16755" y="0"/>
                  <a:pt x="10800" y="0"/>
                </a:cubicBezTo>
                <a:close/>
                <a:moveTo>
                  <a:pt x="11993" y="938"/>
                </a:moveTo>
                <a:cubicBezTo>
                  <a:pt x="14122" y="1194"/>
                  <a:pt x="16044" y="2125"/>
                  <a:pt x="17542" y="3512"/>
                </a:cubicBezTo>
                <a:cubicBezTo>
                  <a:pt x="16898" y="4108"/>
                  <a:pt x="16188" y="4611"/>
                  <a:pt x="15429" y="5012"/>
                </a:cubicBezTo>
                <a:cubicBezTo>
                  <a:pt x="15343" y="4850"/>
                  <a:pt x="15255" y="4689"/>
                  <a:pt x="15162" y="4531"/>
                </a:cubicBezTo>
                <a:cubicBezTo>
                  <a:pt x="14347" y="3140"/>
                  <a:pt x="13267" y="1918"/>
                  <a:pt x="11993" y="938"/>
                </a:cubicBezTo>
                <a:close/>
                <a:moveTo>
                  <a:pt x="9560" y="943"/>
                </a:moveTo>
                <a:cubicBezTo>
                  <a:pt x="8289" y="1922"/>
                  <a:pt x="7211" y="3142"/>
                  <a:pt x="6397" y="4531"/>
                </a:cubicBezTo>
                <a:cubicBezTo>
                  <a:pt x="6308" y="4684"/>
                  <a:pt x="6222" y="4839"/>
                  <a:pt x="6139" y="4995"/>
                </a:cubicBezTo>
                <a:cubicBezTo>
                  <a:pt x="5392" y="4597"/>
                  <a:pt x="4693" y="4100"/>
                  <a:pt x="4058" y="3512"/>
                </a:cubicBezTo>
                <a:cubicBezTo>
                  <a:pt x="5545" y="2136"/>
                  <a:pt x="7450" y="1207"/>
                  <a:pt x="9560" y="943"/>
                </a:cubicBezTo>
                <a:close/>
                <a:moveTo>
                  <a:pt x="10366" y="1421"/>
                </a:moveTo>
                <a:lnTo>
                  <a:pt x="10366" y="6141"/>
                </a:lnTo>
                <a:cubicBezTo>
                  <a:pt x="9165" y="6090"/>
                  <a:pt x="8002" y="5827"/>
                  <a:pt x="6920" y="5368"/>
                </a:cubicBezTo>
                <a:cubicBezTo>
                  <a:pt x="6992" y="5234"/>
                  <a:pt x="7066" y="5100"/>
                  <a:pt x="7143" y="4968"/>
                </a:cubicBezTo>
                <a:cubicBezTo>
                  <a:pt x="7960" y="3575"/>
                  <a:pt x="9062" y="2365"/>
                  <a:pt x="10366" y="1421"/>
                </a:cubicBezTo>
                <a:close/>
                <a:moveTo>
                  <a:pt x="11234" y="1451"/>
                </a:moveTo>
                <a:cubicBezTo>
                  <a:pt x="12520" y="2391"/>
                  <a:pt x="13607" y="3589"/>
                  <a:pt x="14415" y="4968"/>
                </a:cubicBezTo>
                <a:cubicBezTo>
                  <a:pt x="14495" y="5104"/>
                  <a:pt x="14572" y="5244"/>
                  <a:pt x="14646" y="5383"/>
                </a:cubicBezTo>
                <a:cubicBezTo>
                  <a:pt x="13574" y="5833"/>
                  <a:pt x="12424" y="6090"/>
                  <a:pt x="11234" y="6141"/>
                </a:cubicBezTo>
                <a:lnTo>
                  <a:pt x="11234" y="1451"/>
                </a:lnTo>
                <a:close/>
                <a:moveTo>
                  <a:pt x="3448" y="4128"/>
                </a:moveTo>
                <a:cubicBezTo>
                  <a:pt x="4152" y="4783"/>
                  <a:pt x="4928" y="5335"/>
                  <a:pt x="5759" y="5775"/>
                </a:cubicBezTo>
                <a:cubicBezTo>
                  <a:pt x="5120" y="7219"/>
                  <a:pt x="4759" y="8779"/>
                  <a:pt x="4701" y="10368"/>
                </a:cubicBezTo>
                <a:lnTo>
                  <a:pt x="876" y="10368"/>
                </a:lnTo>
                <a:cubicBezTo>
                  <a:pt x="979" y="7972"/>
                  <a:pt x="1935" y="5793"/>
                  <a:pt x="3448" y="4128"/>
                </a:cubicBezTo>
                <a:close/>
                <a:moveTo>
                  <a:pt x="18152" y="4128"/>
                </a:moveTo>
                <a:cubicBezTo>
                  <a:pt x="19665" y="5793"/>
                  <a:pt x="20621" y="7972"/>
                  <a:pt x="20724" y="10368"/>
                </a:cubicBezTo>
                <a:lnTo>
                  <a:pt x="16858" y="10368"/>
                </a:lnTo>
                <a:cubicBezTo>
                  <a:pt x="16800" y="8785"/>
                  <a:pt x="16441" y="7231"/>
                  <a:pt x="15807" y="5792"/>
                </a:cubicBezTo>
                <a:cubicBezTo>
                  <a:pt x="16650" y="5349"/>
                  <a:pt x="17439" y="4792"/>
                  <a:pt x="18152" y="4128"/>
                </a:cubicBezTo>
                <a:close/>
                <a:moveTo>
                  <a:pt x="6541" y="6148"/>
                </a:moveTo>
                <a:cubicBezTo>
                  <a:pt x="7739" y="6662"/>
                  <a:pt x="9031" y="6956"/>
                  <a:pt x="10366" y="7008"/>
                </a:cubicBezTo>
                <a:lnTo>
                  <a:pt x="10366" y="10368"/>
                </a:lnTo>
                <a:lnTo>
                  <a:pt x="5569" y="10368"/>
                </a:lnTo>
                <a:cubicBezTo>
                  <a:pt x="5626" y="8908"/>
                  <a:pt x="5956" y="7475"/>
                  <a:pt x="6541" y="6148"/>
                </a:cubicBezTo>
                <a:close/>
                <a:moveTo>
                  <a:pt x="15024" y="6163"/>
                </a:moveTo>
                <a:cubicBezTo>
                  <a:pt x="15604" y="7486"/>
                  <a:pt x="15934" y="8914"/>
                  <a:pt x="15991" y="10368"/>
                </a:cubicBezTo>
                <a:lnTo>
                  <a:pt x="11234" y="10368"/>
                </a:lnTo>
                <a:lnTo>
                  <a:pt x="11234" y="7008"/>
                </a:lnTo>
                <a:cubicBezTo>
                  <a:pt x="12557" y="6956"/>
                  <a:pt x="13835" y="6668"/>
                  <a:pt x="15024" y="6163"/>
                </a:cubicBezTo>
                <a:close/>
                <a:moveTo>
                  <a:pt x="876" y="11234"/>
                </a:moveTo>
                <a:lnTo>
                  <a:pt x="4700" y="11234"/>
                </a:lnTo>
                <a:cubicBezTo>
                  <a:pt x="4753" y="12849"/>
                  <a:pt x="5119" y="14437"/>
                  <a:pt x="5773" y="15903"/>
                </a:cubicBezTo>
                <a:cubicBezTo>
                  <a:pt x="4953" y="16335"/>
                  <a:pt x="4185" y="16876"/>
                  <a:pt x="3488" y="17518"/>
                </a:cubicBezTo>
                <a:cubicBezTo>
                  <a:pt x="1952" y="15847"/>
                  <a:pt x="980" y="13652"/>
                  <a:pt x="876" y="11234"/>
                </a:cubicBezTo>
                <a:close/>
                <a:moveTo>
                  <a:pt x="5567" y="11234"/>
                </a:moveTo>
                <a:lnTo>
                  <a:pt x="10366" y="11234"/>
                </a:lnTo>
                <a:lnTo>
                  <a:pt x="10366" y="14676"/>
                </a:lnTo>
                <a:cubicBezTo>
                  <a:pt x="9036" y="14728"/>
                  <a:pt x="7749" y="15021"/>
                  <a:pt x="6554" y="15532"/>
                </a:cubicBezTo>
                <a:cubicBezTo>
                  <a:pt x="5955" y="14182"/>
                  <a:pt x="5619" y="12720"/>
                  <a:pt x="5567" y="11234"/>
                </a:cubicBezTo>
                <a:close/>
                <a:moveTo>
                  <a:pt x="11234" y="11234"/>
                </a:moveTo>
                <a:lnTo>
                  <a:pt x="15992" y="11234"/>
                </a:lnTo>
                <a:cubicBezTo>
                  <a:pt x="15940" y="12714"/>
                  <a:pt x="15605" y="14169"/>
                  <a:pt x="15010" y="15515"/>
                </a:cubicBezTo>
                <a:cubicBezTo>
                  <a:pt x="13825" y="15013"/>
                  <a:pt x="12552" y="14728"/>
                  <a:pt x="11234" y="14676"/>
                </a:cubicBezTo>
                <a:lnTo>
                  <a:pt x="11234" y="11234"/>
                </a:lnTo>
                <a:close/>
                <a:moveTo>
                  <a:pt x="16860" y="11234"/>
                </a:moveTo>
                <a:lnTo>
                  <a:pt x="20724" y="11234"/>
                </a:lnTo>
                <a:cubicBezTo>
                  <a:pt x="20620" y="13652"/>
                  <a:pt x="19648" y="15847"/>
                  <a:pt x="18112" y="17518"/>
                </a:cubicBezTo>
                <a:cubicBezTo>
                  <a:pt x="17406" y="16867"/>
                  <a:pt x="16627" y="16321"/>
                  <a:pt x="15795" y="15886"/>
                </a:cubicBezTo>
                <a:cubicBezTo>
                  <a:pt x="16444" y="14425"/>
                  <a:pt x="16807" y="12842"/>
                  <a:pt x="16860" y="11234"/>
                </a:cubicBezTo>
                <a:close/>
                <a:moveTo>
                  <a:pt x="10366" y="15544"/>
                </a:moveTo>
                <a:lnTo>
                  <a:pt x="10366" y="20226"/>
                </a:lnTo>
                <a:cubicBezTo>
                  <a:pt x="9026" y="19256"/>
                  <a:pt x="7899" y="18005"/>
                  <a:pt x="7077" y="16566"/>
                </a:cubicBezTo>
                <a:cubicBezTo>
                  <a:pt x="7029" y="16481"/>
                  <a:pt x="6982" y="16396"/>
                  <a:pt x="6936" y="16310"/>
                </a:cubicBezTo>
                <a:cubicBezTo>
                  <a:pt x="8013" y="15855"/>
                  <a:pt x="9170" y="15594"/>
                  <a:pt x="10366" y="15544"/>
                </a:cubicBezTo>
                <a:close/>
                <a:moveTo>
                  <a:pt x="11234" y="15544"/>
                </a:moveTo>
                <a:cubicBezTo>
                  <a:pt x="12418" y="15594"/>
                  <a:pt x="13563" y="15849"/>
                  <a:pt x="14631" y="16295"/>
                </a:cubicBezTo>
                <a:cubicBezTo>
                  <a:pt x="14582" y="16386"/>
                  <a:pt x="14532" y="16476"/>
                  <a:pt x="14480" y="16566"/>
                </a:cubicBezTo>
                <a:cubicBezTo>
                  <a:pt x="13667" y="17990"/>
                  <a:pt x="12556" y="19230"/>
                  <a:pt x="11234" y="20196"/>
                </a:cubicBezTo>
                <a:lnTo>
                  <a:pt x="11234" y="15544"/>
                </a:lnTo>
                <a:close/>
                <a:moveTo>
                  <a:pt x="15415" y="16666"/>
                </a:moveTo>
                <a:cubicBezTo>
                  <a:pt x="16162" y="17059"/>
                  <a:pt x="16861" y="17548"/>
                  <a:pt x="17498" y="18131"/>
                </a:cubicBezTo>
                <a:cubicBezTo>
                  <a:pt x="16023" y="19479"/>
                  <a:pt x="14143" y="20390"/>
                  <a:pt x="12062" y="20655"/>
                </a:cubicBezTo>
                <a:cubicBezTo>
                  <a:pt x="13343" y="19655"/>
                  <a:pt x="14426" y="18410"/>
                  <a:pt x="15233" y="16997"/>
                </a:cubicBezTo>
                <a:cubicBezTo>
                  <a:pt x="15295" y="16887"/>
                  <a:pt x="15356" y="16777"/>
                  <a:pt x="15415" y="16666"/>
                </a:cubicBezTo>
                <a:close/>
                <a:moveTo>
                  <a:pt x="6153" y="16683"/>
                </a:moveTo>
                <a:cubicBezTo>
                  <a:pt x="6209" y="16788"/>
                  <a:pt x="6267" y="16893"/>
                  <a:pt x="6326" y="16997"/>
                </a:cubicBezTo>
                <a:cubicBezTo>
                  <a:pt x="7132" y="18407"/>
                  <a:pt x="8212" y="19649"/>
                  <a:pt x="9489" y="20648"/>
                </a:cubicBezTo>
                <a:cubicBezTo>
                  <a:pt x="7428" y="20375"/>
                  <a:pt x="5565" y="19468"/>
                  <a:pt x="4102" y="18131"/>
                </a:cubicBezTo>
                <a:cubicBezTo>
                  <a:pt x="4730" y="17557"/>
                  <a:pt x="5418" y="17073"/>
                  <a:pt x="6153" y="16683"/>
                </a:cubicBezTo>
                <a:close/>
              </a:path>
            </a:pathLst>
          </a:custGeom>
          <a:solidFill>
            <a:srgbClr val="000000">
              <a:alpha val="98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pic>
        <p:nvPicPr>
          <p:cNvPr id="850789788" name="image3.png" descr="image3.png"/>
          <p:cNvPicPr>
            <a:picLocks noChangeAspect="1"/>
          </p:cNvPicPr>
          <p:nvPr/>
        </p:nvPicPr>
        <p:blipFill rotWithShape="1">
          <a:blip r:embed="rId5">
            <a:alphaModFix amt="98000"/>
          </a:blip>
          <a:stretch/>
        </p:blipFill>
        <p:spPr bwMode="auto">
          <a:xfrm>
            <a:off x="285325" y="9315094"/>
            <a:ext cx="254004" cy="254003"/>
          </a:xfrm>
          <a:prstGeom prst="rect">
            <a:avLst/>
          </a:prstGeom>
          <a:ln w="12700">
            <a:miter lim="400000"/>
          </a:ln>
        </p:spPr>
      </p:pic>
      <p:sp>
        <p:nvSpPr>
          <p:cNvPr id="1366220903" name="Conference name…"/>
          <p:cNvSpPr txBox="1"/>
          <p:nvPr/>
        </p:nvSpPr>
        <p:spPr bwMode="auto">
          <a:xfrm>
            <a:off x="7877533" y="8560997"/>
            <a:ext cx="4735016" cy="10541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br>
              <a:rPr/>
            </a:br>
            <a:r>
              <a:rPr/>
              <a:t>Conference name</a:t>
            </a:r>
            <a:endParaRPr/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rPr/>
              <a:t>Venue, 2021</a:t>
            </a:r>
            <a:endParaRPr/>
          </a:p>
        </p:txBody>
      </p:sp>
      <p:sp>
        <p:nvSpPr>
          <p:cNvPr id="1217228930" name="Introduction &amp; Background"/>
          <p:cNvSpPr txBox="1"/>
          <p:nvPr/>
        </p:nvSpPr>
        <p:spPr bwMode="auto">
          <a:xfrm>
            <a:off x="118111" y="410702"/>
            <a:ext cx="11609059" cy="7874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Introduction &amp; Background</a:t>
            </a:r>
            <a:endParaRPr/>
          </a:p>
        </p:txBody>
      </p:sp>
      <p:sp>
        <p:nvSpPr>
          <p:cNvPr id="1379889973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Titolo e fo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339041" name="Immagine"/>
          <p:cNvSpPr/>
          <p:nvPr>
            <p:ph type="pic" idx="21"/>
          </p:nvPr>
        </p:nvSpPr>
        <p:spPr bwMode="auto">
          <a:xfrm>
            <a:off x="-376767" y="-915894"/>
            <a:ext cx="17835653" cy="10682194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621581562" name="Rettangolo"/>
          <p:cNvSpPr txBox="1"/>
          <p:nvPr>
            <p:ph type="body" sz="quarter" idx="22"/>
          </p:nvPr>
        </p:nvSpPr>
        <p:spPr bwMode="auto">
          <a:xfrm>
            <a:off x="698500" y="8432800"/>
            <a:ext cx="11607800" cy="689769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6366403" name="Titolo Testo"/>
          <p:cNvSpPr txBox="1"/>
          <p:nvPr>
            <p:ph type="title"/>
          </p:nvPr>
        </p:nvSpPr>
        <p:spPr bwMode="auto"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pPr>
              <a:defRPr/>
            </a:pPr>
            <a:r>
              <a:rPr/>
              <a:t>Titolo Testo</a:t>
            </a:r>
            <a:endParaRPr/>
          </a:p>
        </p:txBody>
      </p:sp>
      <p:sp>
        <p:nvSpPr>
          <p:cNvPr id="190662127" name="Corpo livello uno…"/>
          <p:cNvSpPr txBox="1"/>
          <p:nvPr>
            <p:ph type="body" sz="quarter" idx="1"/>
          </p:nvPr>
        </p:nvSpPr>
        <p:spPr bwMode="auto">
          <a:xfrm>
            <a:off x="698500" y="571500"/>
            <a:ext cx="11607801" cy="461060"/>
          </a:xfrm>
          <a:prstGeom prst="rect">
            <a:avLst/>
          </a:prstGeom>
        </p:spPr>
        <p:txBody>
          <a:bodyPr numCol="1" spcCol="38100" anchor="ctr"/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1247021592" name="Numero diapositiva"/>
          <p:cNvSpPr txBox="1"/>
          <p:nvPr>
            <p:ph type="sldNum" sz="quarter" idx="2"/>
          </p:nvPr>
        </p:nvSpPr>
        <p:spPr bwMode="auto">
          <a:xfrm>
            <a:off x="5863944" y="8237678"/>
            <a:ext cx="1270001" cy="12700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Titolo e foto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279658" name="Immagine"/>
          <p:cNvSpPr/>
          <p:nvPr>
            <p:ph type="pic" idx="21"/>
          </p:nvPr>
        </p:nvSpPr>
        <p:spPr bwMode="auto">
          <a:xfrm>
            <a:off x="5319128" y="495298"/>
            <a:ext cx="7543803" cy="878006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26441691" name="Titolo Testo"/>
          <p:cNvSpPr txBox="1"/>
          <p:nvPr>
            <p:ph type="title"/>
          </p:nvPr>
        </p:nvSpPr>
        <p:spPr bwMode="auto">
          <a:xfrm>
            <a:off x="698500" y="692533"/>
            <a:ext cx="5105400" cy="4387468"/>
          </a:xfrm>
          <a:prstGeom prst="rect">
            <a:avLst/>
          </a:prstGeom>
        </p:spPr>
        <p:txBody>
          <a:bodyPr anchor="b"/>
          <a:lstStyle/>
          <a:p>
            <a:pPr>
              <a:defRPr/>
            </a:pPr>
            <a:r>
              <a:rPr/>
              <a:t>Titolo Testo</a:t>
            </a:r>
            <a:endParaRPr/>
          </a:p>
        </p:txBody>
      </p:sp>
      <p:sp>
        <p:nvSpPr>
          <p:cNvPr id="829468925" name="Corpo livello uno…"/>
          <p:cNvSpPr txBox="1"/>
          <p:nvPr>
            <p:ph type="body" sz="quarter" idx="1"/>
          </p:nvPr>
        </p:nvSpPr>
        <p:spPr bwMode="auto">
          <a:xfrm>
            <a:off x="698500" y="5003800"/>
            <a:ext cx="5105400" cy="4044566"/>
          </a:xfrm>
          <a:prstGeom prst="rect">
            <a:avLst/>
          </a:prstGeom>
        </p:spPr>
        <p:txBody>
          <a:bodyPr numCol="1" spcCol="38100"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796046017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Titolo e punti ele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504053" name="Rettangolo"/>
          <p:cNvSpPr txBox="1"/>
          <p:nvPr>
            <p:ph type="body" idx="21"/>
          </p:nvPr>
        </p:nvSpPr>
        <p:spPr bwMode="auto"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15191157" name="Titolo Testo"/>
          <p:cNvSpPr txBox="1"/>
          <p:nvPr>
            <p:ph type="title"/>
          </p:nvPr>
        </p:nvSpPr>
        <p:spPr bwMode="auto">
          <a:xfrm>
            <a:off x="698500" y="440266"/>
            <a:ext cx="11607800" cy="10160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Titolo Testo</a:t>
            </a:r>
            <a:endParaRPr/>
          </a:p>
        </p:txBody>
      </p:sp>
      <p:sp>
        <p:nvSpPr>
          <p:cNvPr id="321558286" name="Corpo livello uno…"/>
          <p:cNvSpPr txBox="1"/>
          <p:nvPr>
            <p:ph type="body" sz="quarter" idx="1"/>
          </p:nvPr>
        </p:nvSpPr>
        <p:spPr bwMode="auto">
          <a:xfrm>
            <a:off x="698500" y="1412977"/>
            <a:ext cx="11607801" cy="671805"/>
          </a:xfrm>
          <a:prstGeom prst="rect">
            <a:avLst/>
          </a:prstGeom>
        </p:spPr>
        <p:txBody>
          <a:bodyPr numCol="1" spcCol="38100" anchor="ctr"/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1793182326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Punti ele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583979" name="Corpo livello uno…"/>
          <p:cNvSpPr txBox="1"/>
          <p:nvPr>
            <p:ph type="body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356450141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Titolo, punti elenco e fo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566695" name="Immagine"/>
          <p:cNvSpPr/>
          <p:nvPr>
            <p:ph type="pic" idx="21"/>
          </p:nvPr>
        </p:nvSpPr>
        <p:spPr bwMode="auto">
          <a:xfrm>
            <a:off x="6172200" y="596900"/>
            <a:ext cx="6448427" cy="859790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82704785" name="Rettangolo"/>
          <p:cNvSpPr txBox="1"/>
          <p:nvPr>
            <p:ph type="body" sz="half" idx="22"/>
          </p:nvPr>
        </p:nvSpPr>
        <p:spPr bwMode="auto">
          <a:xfrm>
            <a:off x="698500" y="3480196"/>
            <a:ext cx="5105400" cy="5593163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4277929" name="Titolo Testo"/>
          <p:cNvSpPr txBox="1"/>
          <p:nvPr>
            <p:ph type="title"/>
          </p:nvPr>
        </p:nvSpPr>
        <p:spPr bwMode="auto"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Titolo Testo</a:t>
            </a:r>
            <a:endParaRPr/>
          </a:p>
        </p:txBody>
      </p:sp>
      <p:sp>
        <p:nvSpPr>
          <p:cNvPr id="1124675142" name="Corpo livello uno…"/>
          <p:cNvSpPr txBox="1"/>
          <p:nvPr>
            <p:ph type="body" sz="quarter" idx="1"/>
          </p:nvPr>
        </p:nvSpPr>
        <p:spPr bwMode="auto">
          <a:xfrm>
            <a:off x="698500" y="1412977"/>
            <a:ext cx="5105400" cy="671805"/>
          </a:xfrm>
          <a:prstGeom prst="rect">
            <a:avLst/>
          </a:prstGeom>
        </p:spPr>
        <p:txBody>
          <a:bodyPr numCol="1" spcCol="38100" anchor="ctr"/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1910334415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Programm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516488" name="Rettangolo"/>
          <p:cNvSpPr txBox="1"/>
          <p:nvPr>
            <p:ph type="body" idx="21"/>
          </p:nvPr>
        </p:nvSpPr>
        <p:spPr bwMode="auto"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0662801" name="Titolo Testo"/>
          <p:cNvSpPr txBox="1"/>
          <p:nvPr>
            <p:ph type="title"/>
          </p:nvPr>
        </p:nvSpPr>
        <p:spPr bwMode="auto"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Titolo Testo</a:t>
            </a:r>
            <a:endParaRPr/>
          </a:p>
        </p:txBody>
      </p:sp>
      <p:sp>
        <p:nvSpPr>
          <p:cNvPr id="1172623714" name="Corpo livello uno…"/>
          <p:cNvSpPr txBox="1"/>
          <p:nvPr>
            <p:ph type="body" sz="quarter" idx="1"/>
          </p:nvPr>
        </p:nvSpPr>
        <p:spPr bwMode="auto">
          <a:xfrm>
            <a:off x="698500" y="1409700"/>
            <a:ext cx="11607801" cy="671803"/>
          </a:xfrm>
          <a:prstGeom prst="rect">
            <a:avLst/>
          </a:prstGeom>
        </p:spPr>
        <p:txBody>
          <a:bodyPr numCol="1" spcCol="38100" anchor="ctr"/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551035310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Dichiarazi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901844" name="Corpo livello uno…"/>
          <p:cNvSpPr txBox="1"/>
          <p:nvPr>
            <p:ph type="body" sz="half" idx="1"/>
          </p:nvPr>
        </p:nvSpPr>
        <p:spPr bwMode="auto">
          <a:xfrm>
            <a:off x="698500" y="3568700"/>
            <a:ext cx="11607800" cy="2617790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</a:defRPr>
            </a:lvl5pPr>
          </a:lstStyle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419840515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Informazione importan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753957" name="Rettangolo"/>
          <p:cNvSpPr txBox="1"/>
          <p:nvPr>
            <p:ph type="body" idx="21"/>
          </p:nvPr>
        </p:nvSpPr>
        <p:spPr bwMode="auto">
          <a:xfrm>
            <a:off x="698500" y="999064"/>
            <a:ext cx="11607800" cy="5210917"/>
          </a:xfrm>
          <a:prstGeom prst="rect">
            <a:avLst/>
          </a:prstGeom>
        </p:spPr>
        <p:txBody>
          <a:bodyPr numCol="1" spcCol="38100" anchor="b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0246119" name="Corpo livello uno…"/>
          <p:cNvSpPr txBox="1"/>
          <p:nvPr>
            <p:ph type="body" sz="quarter" idx="1"/>
          </p:nvPr>
        </p:nvSpPr>
        <p:spPr bwMode="auto">
          <a:xfrm>
            <a:off x="698500" y="6209979"/>
            <a:ext cx="11607800" cy="671805"/>
          </a:xfrm>
          <a:prstGeom prst="rect">
            <a:avLst/>
          </a:prstGeom>
        </p:spPr>
        <p:txBody>
          <a:bodyPr numCol="1" spcCol="38100" anchor="ctr"/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2075540472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Citazi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702032" name="Rettangolo"/>
          <p:cNvSpPr txBox="1"/>
          <p:nvPr>
            <p:ph type="body" sz="half" idx="21"/>
          </p:nvPr>
        </p:nvSpPr>
        <p:spPr bwMode="auto">
          <a:xfrm>
            <a:off x="736600" y="3721100"/>
            <a:ext cx="11531599" cy="2324100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5256964" name="Corpo livello uno…"/>
          <p:cNvSpPr txBox="1"/>
          <p:nvPr>
            <p:ph type="body" sz="quarter" idx="1"/>
          </p:nvPr>
        </p:nvSpPr>
        <p:spPr bwMode="auto">
          <a:xfrm>
            <a:off x="1219200" y="6426200"/>
            <a:ext cx="11049000" cy="461060"/>
          </a:xfrm>
          <a:prstGeom prst="rect">
            <a:avLst/>
          </a:prstGeom>
        </p:spPr>
        <p:txBody>
          <a:bodyPr numCol="1" spcCol="38100" anchor="ctr"/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1357749116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Foto - 3 per pagin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489348" name="Immagine"/>
          <p:cNvSpPr/>
          <p:nvPr>
            <p:ph type="pic" idx="21"/>
          </p:nvPr>
        </p:nvSpPr>
        <p:spPr bwMode="auto">
          <a:xfrm>
            <a:off x="-2082800" y="687557"/>
            <a:ext cx="11165190" cy="837389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9457236" name="Immagine"/>
          <p:cNvSpPr/>
          <p:nvPr>
            <p:ph type="pic" sz="half" idx="22"/>
          </p:nvPr>
        </p:nvSpPr>
        <p:spPr bwMode="auto"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34803052" name="Immagine"/>
          <p:cNvSpPr/>
          <p:nvPr>
            <p:ph type="pic" idx="23"/>
          </p:nvPr>
        </p:nvSpPr>
        <p:spPr bwMode="auto">
          <a:xfrm>
            <a:off x="4984750" y="2749550"/>
            <a:ext cx="7937501" cy="9238276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526311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Fo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410848" name="Immagine"/>
          <p:cNvSpPr/>
          <p:nvPr>
            <p:ph type="pic" idx="21"/>
          </p:nvPr>
        </p:nvSpPr>
        <p:spPr bwMode="auto">
          <a:xfrm>
            <a:off x="-1016000" y="-1054100"/>
            <a:ext cx="14427202" cy="1154176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04949104" name="Numero diapositiva"/>
          <p:cNvSpPr txBox="1"/>
          <p:nvPr>
            <p:ph type="sldNum" sz="quarter" idx="2"/>
          </p:nvPr>
        </p:nvSpPr>
        <p:spPr bwMode="auto">
          <a:xfrm>
            <a:off x="5867399" y="8237678"/>
            <a:ext cx="1270000" cy="1270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Vuot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266425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Titolo e sottotitolo">
    <p:bg>
      <p:bgPr shadeToTitle="0">
        <a:blipFill rotWithShape="1">
          <a:blip r:embed="rId2"/>
          <a:srcRect l="0" t="0" r="0" b="0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644197" name="Titolo Testo"/>
          <p:cNvSpPr txBox="1"/>
          <p:nvPr>
            <p:ph type="title"/>
          </p:nvPr>
        </p:nvSpPr>
        <p:spPr bwMode="auto">
          <a:xfrm>
            <a:off x="355600" y="2044700"/>
            <a:ext cx="12293600" cy="3238500"/>
          </a:xfrm>
          <a:prstGeom prst="rect">
            <a:avLst/>
          </a:prstGeom>
        </p:spPr>
        <p:txBody>
          <a:bodyPr anchor="b"/>
          <a:lstStyle>
            <a:lvl1pPr algn="ctr" defTabSz="584200">
              <a:lnSpc>
                <a:spcPct val="100000"/>
              </a:lnSpc>
              <a:defRPr sz="7200" b="0" cap="all" spc="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/>
              <a:t>Titolo Testo</a:t>
            </a:r>
            <a:endParaRPr/>
          </a:p>
        </p:txBody>
      </p:sp>
      <p:sp>
        <p:nvSpPr>
          <p:cNvPr id="74437449" name="Corpo livello uno…"/>
          <p:cNvSpPr txBox="1"/>
          <p:nvPr>
            <p:ph type="body" sz="quarter" idx="1"/>
          </p:nvPr>
        </p:nvSpPr>
        <p:spPr bwMode="auto">
          <a:xfrm>
            <a:off x="355600" y="5270500"/>
            <a:ext cx="12293600" cy="1295400"/>
          </a:xfrm>
          <a:prstGeom prst="rect">
            <a:avLst/>
          </a:prstGeom>
        </p:spPr>
        <p:txBody>
          <a:bodyPr numCol="1" spcCol="38100"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Clr>
                <a:srgbClr val="535353"/>
              </a:buClr>
              <a:buSzTx/>
              <a:buNone/>
              <a:defRPr sz="38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1pPr>
            <a:lvl2pPr marL="0" indent="0" algn="ctr" defTabSz="584200">
              <a:lnSpc>
                <a:spcPct val="100000"/>
              </a:lnSpc>
              <a:spcBef>
                <a:spcPts val="0"/>
              </a:spcBef>
              <a:buClr>
                <a:srgbClr val="535353"/>
              </a:buClr>
              <a:buSzTx/>
              <a:buNone/>
              <a:defRPr sz="38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2pPr>
            <a:lvl3pPr marL="0" indent="0" algn="ctr" defTabSz="584200">
              <a:lnSpc>
                <a:spcPct val="100000"/>
              </a:lnSpc>
              <a:spcBef>
                <a:spcPts val="0"/>
              </a:spcBef>
              <a:buClr>
                <a:srgbClr val="535353"/>
              </a:buClr>
              <a:buSzTx/>
              <a:buNone/>
              <a:defRPr sz="38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3pPr>
            <a:lvl4pPr marL="0" indent="0" algn="ctr" defTabSz="584200">
              <a:lnSpc>
                <a:spcPct val="100000"/>
              </a:lnSpc>
              <a:spcBef>
                <a:spcPts val="0"/>
              </a:spcBef>
              <a:buClr>
                <a:srgbClr val="535353"/>
              </a:buClr>
              <a:buSzTx/>
              <a:buNone/>
              <a:defRPr sz="38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4pPr>
            <a:lvl5pPr marL="0" indent="0" algn="ctr" defTabSz="584200">
              <a:lnSpc>
                <a:spcPct val="100000"/>
              </a:lnSpc>
              <a:spcBef>
                <a:spcPts val="0"/>
              </a:spcBef>
              <a:buClr>
                <a:srgbClr val="535353"/>
              </a:buClr>
              <a:buSzTx/>
              <a:buNone/>
              <a:defRPr sz="38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5pPr>
          </a:lstStyle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719638072" name="Numero diapositiva"/>
          <p:cNvSpPr/>
          <p:nvPr>
            <p:ph type="sldNum" sz="quarter" idx="2"/>
          </p:nvPr>
        </p:nvSpPr>
        <p:spPr bwMode="auto">
          <a:xfrm>
            <a:off x="5861050" y="8356600"/>
            <a:ext cx="1270000" cy="1270000"/>
          </a:xfrm>
          <a:prstGeom prst="line">
            <a:avLst/>
          </a:prstGeom>
        </p:spPr>
        <p:txBody>
          <a:bodyPr/>
          <a:lstStyle>
            <a:lvl1pPr>
              <a:defRPr sz="18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608258" name="Corpo livello uno…"/>
          <p:cNvSpPr txBox="1"/>
          <p:nvPr>
            <p:ph type="body" idx="1"/>
          </p:nvPr>
        </p:nvSpPr>
        <p:spPr bwMode="auto"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numCol="2" spcCol="589358">
            <a:normAutofit fontScale="100000" lnSpcReduction="0"/>
          </a:bodyPr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1641460562" name="Titolo Testo"/>
          <p:cNvSpPr txBox="1"/>
          <p:nvPr>
            <p:ph type="title"/>
          </p:nvPr>
        </p:nvSpPr>
        <p:spPr bwMode="auto">
          <a:xfrm>
            <a:off x="1948462" y="1950720"/>
            <a:ext cx="10403841" cy="100838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 fontScale="100000" lnSpcReduction="0"/>
          </a:bodyPr>
          <a:lstStyle/>
          <a:p>
            <a:pPr>
              <a:defRPr/>
            </a:pPr>
            <a:r>
              <a:rPr/>
              <a:t>Titolo Testo</a:t>
            </a:r>
            <a:endParaRPr/>
          </a:p>
        </p:txBody>
      </p:sp>
      <p:sp>
        <p:nvSpPr>
          <p:cNvPr id="1158065718" name="Numero diapositiva"/>
          <p:cNvSpPr txBox="1"/>
          <p:nvPr>
            <p:ph type="sldNum" sz="quarter" idx="2"/>
          </p:nvPr>
        </p:nvSpPr>
        <p:spPr bwMode="auto">
          <a:xfrm>
            <a:off x="5864012" y="8237678"/>
            <a:ext cx="1270001" cy="1270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marL="0" marR="0" indent="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1pPr>
      <a:lvl2pPr marL="0" marR="0" indent="45720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2pPr>
      <a:lvl3pPr marL="0" marR="0" indent="91440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3pPr>
      <a:lvl4pPr marL="0" marR="0" indent="137160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4pPr>
      <a:lvl5pPr marL="0" marR="0" indent="182880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5pPr>
      <a:lvl6pPr marL="0" marR="0" indent="228600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6pPr>
      <a:lvl7pPr marL="0" marR="0" indent="274320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7pPr>
      <a:lvl8pPr marL="0" marR="0" indent="320040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8pPr>
      <a:lvl9pPr marL="0" marR="0" indent="365760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9pPr>
    </p:titleStyle>
    <p:bodyStyle>
      <a:lvl1pPr marL="381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1pPr>
      <a:lvl2pPr marL="762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2pPr>
      <a:lvl3pPr marL="1143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3pPr>
      <a:lvl4pPr marL="1524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4pPr>
      <a:lvl5pPr marL="1905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5pPr>
      <a:lvl6pPr marL="2286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6pPr>
      <a:lvl7pPr marL="2667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7pPr>
      <a:lvl8pPr marL="3048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8pPr>
      <a:lvl9pPr marL="3429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9pPr>
    </p:bodyStyle>
    <p:otherStyle>
      <a:lvl1pPr marL="0" marR="0" indent="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572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9144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716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8288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860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7432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2004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6576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20.jp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2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20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hyperlink" Target="mailto:email@studenti.unisa.it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bg>
      <p:bgPr shadeToTitle="0">
        <a:solidFill>
          <a:srgbClr val="FFFF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893991" name="Rettangolo"/>
          <p:cNvSpPr/>
          <p:nvPr/>
        </p:nvSpPr>
        <p:spPr bwMode="auto"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49752511" name="Rettangolo"/>
          <p:cNvSpPr/>
          <p:nvPr/>
        </p:nvSpPr>
        <p:spPr bwMode="auto"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550325954" name="Titolo tesi"/>
          <p:cNvSpPr txBox="1"/>
          <p:nvPr>
            <p:ph type="title"/>
          </p:nvPr>
        </p:nvSpPr>
        <p:spPr bwMode="auto">
          <a:xfrm flipH="0" flipV="0">
            <a:off x="-16135" y="3604863"/>
            <a:ext cx="13037071" cy="3261016"/>
          </a:xfrm>
          <a:prstGeom prst="rect">
            <a:avLst/>
          </a:prstGeom>
        </p:spPr>
        <p:txBody>
          <a:bodyPr vertOverflow="overflow" horzOverflow="overflow" vert="horz" wrap="square" lIns="50799" tIns="50799" rIns="50799" bIns="50799" numCol="1" spcCol="0" rtlCol="0" fromWordArt="0" anchor="b" anchorCtr="0" forceAA="0" upright="0" compatLnSpc="0">
            <a:normAutofit fontScale="90000" lnSpcReduction="2000"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defRPr/>
            </a:pPr>
            <a:r>
              <a:rPr lang="en-US" sz="7200" b="1" i="0" u="none" strike="noStrike" cap="none" spc="-198">
                <a:ln>
                  <a:noFill/>
                </a:ln>
                <a:solidFill>
                  <a:srgbClr val="303030"/>
                </a:solidFill>
                <a:latin typeface="Helvetica"/>
                <a:ea typeface="Helvetica"/>
                <a:cs typeface="Helvetica"/>
              </a:rPr>
              <a:t>Analisi del comportamento dei LLM:</a:t>
            </a:r>
            <a:endParaRPr sz="7200" b="1" i="0" u="none" strike="noStrike" cap="none" spc="-198">
              <a:ln>
                <a:noFill/>
              </a:ln>
              <a:solidFill>
                <a:srgbClr val="303030"/>
              </a:solidFill>
              <a:latin typeface="Helvetica"/>
              <a:cs typeface="Helvetica"/>
            </a:endParaRPr>
          </a:p>
          <a:p>
            <a:pPr>
              <a:defRPr/>
            </a:pPr>
            <a:r>
              <a:rPr lang="en-US" sz="7200" b="1" i="0" u="none" strike="noStrike" cap="none" spc="-198">
                <a:ln>
                  <a:noFill/>
                </a:ln>
                <a:solidFill>
                  <a:srgbClr val="303030"/>
                </a:solidFill>
                <a:latin typeface="Helvetica"/>
                <a:ea typeface="Helvetica"/>
                <a:cs typeface="Helvetica"/>
              </a:rPr>
              <a:t>Framework per testare la robustezza e</a:t>
            </a:r>
            <a:endParaRPr sz="7200" b="1" i="0" u="none" strike="noStrike" cap="none" spc="-198">
              <a:ln>
                <a:noFill/>
              </a:ln>
              <a:solidFill>
                <a:srgbClr val="303030"/>
              </a:solidFill>
              <a:latin typeface="Helvetica"/>
              <a:cs typeface="Helvetica"/>
            </a:endParaRPr>
          </a:p>
          <a:p>
            <a:pPr>
              <a:defRPr/>
            </a:pPr>
            <a:r>
              <a:rPr lang="en-US" sz="7200" b="1" i="0" u="none" strike="noStrike" cap="none" spc="-198">
                <a:ln>
                  <a:noFill/>
                </a:ln>
                <a:solidFill>
                  <a:srgbClr val="303030"/>
                </a:solidFill>
                <a:latin typeface="Helvetica"/>
                <a:ea typeface="Helvetica"/>
                <a:cs typeface="Helvetica"/>
              </a:rPr>
              <a:t>allineamento</a:t>
            </a:r>
            <a:endParaRPr sz="7200"/>
          </a:p>
        </p:txBody>
      </p:sp>
      <p:pic>
        <p:nvPicPr>
          <p:cNvPr id="1512134188" name="image2.png" descr="image2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3317473" name="Raggruppa"/>
          <p:cNvGrpSpPr/>
          <p:nvPr/>
        </p:nvGrpSpPr>
        <p:grpSpPr bwMode="auto">
          <a:xfrm>
            <a:off x="602224" y="170716"/>
            <a:ext cx="1020435" cy="1020436"/>
            <a:chOff x="0" y="0"/>
            <a:chExt cx="1020434" cy="1020434"/>
          </a:xfrm>
        </p:grpSpPr>
        <p:sp>
          <p:nvSpPr>
            <p:cNvPr id="190" name="Cerchio"/>
            <p:cNvSpPr/>
            <p:nvPr/>
          </p:nvSpPr>
          <p:spPr bwMode="auto"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</a:defRPr>
              </a:pPr>
              <a:endParaRPr/>
            </a:p>
          </p:txBody>
        </p:sp>
        <p:pic>
          <p:nvPicPr>
            <p:cNvPr id="191" name="image2.tif" descr="image2.tif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50296638" name="Nome Cognome Mat.:  xxxxxxxxx"/>
          <p:cNvSpPr txBox="1"/>
          <p:nvPr/>
        </p:nvSpPr>
        <p:spPr bwMode="auto">
          <a:xfrm>
            <a:off x="6888739" y="6867759"/>
            <a:ext cx="5546743" cy="98587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r" defTabSz="534190">
              <a:lnSpc>
                <a:spcPct val="100000"/>
              </a:lnSpc>
              <a:spcBef>
                <a:spcPts val="0"/>
              </a:spcBef>
              <a:defRPr sz="2900" b="1">
                <a:solidFill>
                  <a:srgbClr val="303030"/>
                </a:solidFill>
                <a:latin typeface="+mj-lt"/>
                <a:ea typeface="+mj-ea"/>
                <a:cs typeface="+mj-cs"/>
              </a:defRPr>
            </a:pPr>
            <a:r>
              <a:rPr lang="it-IT"/>
              <a:t>Aniello Tremulo</a:t>
            </a:r>
            <a:br>
              <a:rPr/>
            </a:br>
            <a:r>
              <a:rPr/>
              <a:t>Mat.:  </a:t>
            </a:r>
            <a:r>
              <a:rPr lang="it-IT"/>
              <a:t>0512113558</a:t>
            </a:r>
            <a:endParaRPr/>
          </a:p>
        </p:txBody>
      </p:sp>
      <p:grpSp>
        <p:nvGrpSpPr>
          <p:cNvPr id="979175440" name="Raggruppa"/>
          <p:cNvGrpSpPr/>
          <p:nvPr/>
        </p:nvGrpSpPr>
        <p:grpSpPr bwMode="auto"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/>
            <p:cNvSpPr/>
            <p:nvPr/>
          </p:nvSpPr>
          <p:spPr bwMode="auto"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</a:defRPr>
              </a:pPr>
              <a:endParaRPr/>
            </a:p>
          </p:txBody>
        </p:sp>
        <p:pic>
          <p:nvPicPr>
            <p:cNvPr id="195" name="image1.tif" descr="image1.tif"/>
            <p:cNvPicPr>
              <a:picLocks noChangeAspect="1"/>
            </p:cNvPicPr>
            <p:nvPr/>
          </p:nvPicPr>
          <p:blipFill rotWithShape="1">
            <a:blip r:embed="rId5"/>
            <a:srcRect l="19293" t="0" r="24200" b="37033"/>
            <a:stretch/>
          </p:blipFill>
          <p:spPr bwMode="auto"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87318177" name="email@studenti.unisa.it…"/>
          <p:cNvSpPr txBox="1"/>
          <p:nvPr/>
        </p:nvSpPr>
        <p:spPr bwMode="auto">
          <a:xfrm>
            <a:off x="983156" y="8692924"/>
            <a:ext cx="3106797" cy="76032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 lang="it-IT"/>
              <a:t>a.tremulo@studenti.unisa.it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endParaRPr/>
          </a:p>
        </p:txBody>
      </p:sp>
      <p:pic>
        <p:nvPicPr>
          <p:cNvPr id="955534312" name="email.png" descr="email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41851" y="876121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360272559" name="QR code che riporta al PDF della tua tesi —&gt;"/>
          <p:cNvSpPr txBox="1"/>
          <p:nvPr/>
        </p:nvSpPr>
        <p:spPr bwMode="auto">
          <a:xfrm>
            <a:off x="9466592" y="8519920"/>
            <a:ext cx="2011107" cy="108545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QR code che riporta al PDF della tua tesi —&gt;</a:t>
            </a:r>
            <a:endParaRPr/>
          </a:p>
        </p:txBody>
      </p:sp>
      <p:pic>
        <p:nvPicPr>
          <p:cNvPr id="1833346378" name="Immagine" descr="Immagine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1364315" y="8519920"/>
            <a:ext cx="990601" cy="990601"/>
          </a:xfrm>
          <a:prstGeom prst="rect">
            <a:avLst/>
          </a:prstGeom>
          <a:ln w="12700">
            <a:miter lim="400000"/>
          </a:ln>
        </p:spPr>
      </p:pic>
      <p:sp>
        <p:nvSpPr>
          <p:cNvPr id="255041754" name="Prof. Nome Cognome…"/>
          <p:cNvSpPr txBox="1"/>
          <p:nvPr/>
        </p:nvSpPr>
        <p:spPr bwMode="auto">
          <a:xfrm>
            <a:off x="575334" y="6873519"/>
            <a:ext cx="5558263" cy="98587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defTabSz="534190">
              <a:lnSpc>
                <a:spcPct val="100000"/>
              </a:lnSpc>
              <a:spcBef>
                <a:spcPts val="0"/>
              </a:spcBef>
              <a:defRPr sz="2900" b="1">
                <a:solidFill>
                  <a:srgbClr val="303030"/>
                </a:solidFill>
                <a:latin typeface="+mj-lt"/>
                <a:ea typeface="+mj-ea"/>
                <a:cs typeface="+mj-cs"/>
              </a:defRPr>
            </a:pPr>
            <a:r>
              <a:rPr/>
              <a:t>Prof. </a:t>
            </a:r>
            <a:r>
              <a:rPr lang="it-IT"/>
              <a:t>Fabio Palomba</a:t>
            </a:r>
            <a:endParaRPr/>
          </a:p>
          <a:p>
            <a:pPr defTabSz="534190">
              <a:lnSpc>
                <a:spcPct val="100000"/>
              </a:lnSpc>
              <a:spcBef>
                <a:spcPts val="0"/>
              </a:spcBef>
              <a:defRPr sz="2900" b="1">
                <a:solidFill>
                  <a:srgbClr val="303030"/>
                </a:solidFill>
                <a:latin typeface="+mj-lt"/>
                <a:ea typeface="+mj-ea"/>
                <a:cs typeface="+mj-cs"/>
              </a:defRPr>
            </a:pPr>
            <a:r>
              <a:rPr/>
              <a:t>Dott.</a:t>
            </a:r>
            <a:r>
              <a:rPr lang="it-IT"/>
              <a:t>ssa</a:t>
            </a:r>
            <a:r>
              <a:rPr/>
              <a:t> </a:t>
            </a:r>
            <a:r>
              <a:rPr lang="it-IT"/>
              <a:t>Alessandra Parziale</a:t>
            </a:r>
            <a:endParaRPr/>
          </a:p>
        </p:txBody>
      </p:sp>
      <p:sp>
        <p:nvSpPr>
          <p:cNvPr id="415087342" name="Corso di Laurea (Magistrale) in Informatica"/>
          <p:cNvSpPr txBox="1"/>
          <p:nvPr/>
        </p:nvSpPr>
        <p:spPr bwMode="auto">
          <a:xfrm>
            <a:off x="2376031" y="1510872"/>
            <a:ext cx="8263535" cy="43723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ctr" defTabSz="53419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30303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sz="2200"/>
              <a:t>Corso di Laure</a:t>
            </a:r>
            <a:r>
              <a:rPr lang="it-IT" sz="2200"/>
              <a:t>a</a:t>
            </a:r>
            <a:r>
              <a:rPr lang="it-IT"/>
              <a:t> </a:t>
            </a:r>
            <a:r>
              <a:rPr lang="it-IT" sz="2200"/>
              <a:t>triennale</a:t>
            </a:r>
            <a:r>
              <a:rPr sz="2200"/>
              <a:t> </a:t>
            </a:r>
            <a:r>
              <a:rPr sz="2200"/>
              <a:t>in Informatica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75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bg>
      <p:bgPr shadeToTitle="0">
        <a:solidFill>
          <a:srgbClr val="FFFF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630981" name="Rettangolo"/>
          <p:cNvSpPr/>
          <p:nvPr/>
        </p:nvSpPr>
        <p:spPr bwMode="auto">
          <a:xfrm>
            <a:off x="-6927" y="8420159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023652205" name="Rettangolo"/>
          <p:cNvSpPr/>
          <p:nvPr/>
        </p:nvSpPr>
        <p:spPr bwMode="auto"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568346293" name="Introduzione e Background"/>
          <p:cNvSpPr txBox="1"/>
          <p:nvPr/>
        </p:nvSpPr>
        <p:spPr bwMode="auto">
          <a:xfrm>
            <a:off x="557064" y="287233"/>
            <a:ext cx="11609060" cy="7874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Introduzione e Background</a:t>
            </a:r>
            <a:endParaRPr/>
          </a:p>
        </p:txBody>
      </p:sp>
      <p:sp>
        <p:nvSpPr>
          <p:cNvPr id="151586055" name="Titolo Tesi…"/>
          <p:cNvSpPr txBox="1"/>
          <p:nvPr/>
        </p:nvSpPr>
        <p:spPr bwMode="auto">
          <a:xfrm>
            <a:off x="7725132" y="8554450"/>
            <a:ext cx="4757335" cy="108951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/>
              <a:t>Analisi del comportamento dei LLM</a:t>
            </a:r>
            <a:r>
              <a:rPr/>
              <a:t> </a:t>
            </a:r>
            <a:endParaRPr/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/>
              <a:t>Aniello Tremulo</a:t>
            </a:r>
            <a:br>
              <a:rPr/>
            </a:br>
            <a:r>
              <a:rPr/>
              <a:t>Università degli Studi di Salerno</a:t>
            </a:r>
            <a:endParaRPr/>
          </a:p>
        </p:txBody>
      </p:sp>
      <p:sp>
        <p:nvSpPr>
          <p:cNvPr id="1974492763" name="email@studenti.unisa.it…"/>
          <p:cNvSpPr txBox="1"/>
          <p:nvPr/>
        </p:nvSpPr>
        <p:spPr bwMode="auto">
          <a:xfrm flipH="0" flipV="0">
            <a:off x="983156" y="8578769"/>
            <a:ext cx="3175709" cy="431143"/>
          </a:xfrm>
          <a:prstGeom prst="rect">
            <a:avLst/>
          </a:prstGeom>
          <a:ln w="12700">
            <a:miter lim="400000"/>
          </a:ln>
        </p:spPr>
        <p:txBody>
          <a:bodyPr wrap="square" lIns="50799" tIns="50799" rIns="50799" bIns="50799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 lang="it-IT"/>
              <a:t>a.tremulo@studenti.unisa.it</a:t>
            </a:r>
            <a:endParaRPr/>
          </a:p>
        </p:txBody>
      </p:sp>
      <p:pic>
        <p:nvPicPr>
          <p:cNvPr id="1064712297" name="email.png" descr="emai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1852" y="8613978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999606504" name="Linea"/>
          <p:cNvSpPr/>
          <p:nvPr/>
        </p:nvSpPr>
        <p:spPr bwMode="auto">
          <a:xfrm flipV="1">
            <a:off x="616451" y="2265632"/>
            <a:ext cx="1" cy="5131441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1846503358" name="Linea"/>
          <p:cNvSpPr/>
          <p:nvPr/>
        </p:nvSpPr>
        <p:spPr bwMode="auto">
          <a:xfrm flipV="1">
            <a:off x="12403620" y="2265632"/>
            <a:ext cx="1" cy="5131441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1269796242" name="Ricorda di mantenere il contenuto all’interno di questi margini"/>
          <p:cNvSpPr txBox="1"/>
          <p:nvPr/>
        </p:nvSpPr>
        <p:spPr bwMode="auto">
          <a:xfrm>
            <a:off x="4331509" y="4681723"/>
            <a:ext cx="4357413" cy="5591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ctr" defTabSz="587022">
              <a:lnSpc>
                <a:spcPct val="120000"/>
              </a:lnSpc>
              <a:spcBef>
                <a:spcPts val="0"/>
              </a:spcBef>
              <a:defRPr sz="2500">
                <a:solidFill>
                  <a:srgbClr val="31313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/>
          </a:p>
        </p:txBody>
      </p:sp>
      <p:pic>
        <p:nvPicPr>
          <p:cNvPr id="1580730517" name="image2.png" descr="image2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92415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95852" y="2480742"/>
            <a:ext cx="2350609" cy="2350609"/>
          </a:xfrm>
          <a:prstGeom prst="rect">
            <a:avLst/>
          </a:prstGeom>
        </p:spPr>
      </p:pic>
      <p:pic>
        <p:nvPicPr>
          <p:cNvPr id="1421710495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9144156" y="2451089"/>
            <a:ext cx="2510211" cy="2510211"/>
          </a:xfrm>
          <a:prstGeom prst="rect">
            <a:avLst/>
          </a:prstGeom>
        </p:spPr>
      </p:pic>
      <p:pic>
        <p:nvPicPr>
          <p:cNvPr id="260438151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5044762" y="2480742"/>
            <a:ext cx="2252662" cy="2252662"/>
          </a:xfrm>
          <a:prstGeom prst="rect">
            <a:avLst/>
          </a:prstGeom>
        </p:spPr>
      </p:pic>
      <p:sp>
        <p:nvSpPr>
          <p:cNvPr id="718006290" name=""/>
          <p:cNvSpPr txBox="1"/>
          <p:nvPr/>
        </p:nvSpPr>
        <p:spPr bwMode="auto">
          <a:xfrm rot="0" flipH="0" flipV="0">
            <a:off x="1002562" y="5357812"/>
            <a:ext cx="2150632" cy="20120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Diffusione massiccia dei Large Language Models</a:t>
            </a:r>
            <a:endParaRPr sz="2800"/>
          </a:p>
        </p:txBody>
      </p:sp>
      <p:sp>
        <p:nvSpPr>
          <p:cNvPr id="1561886665" name=""/>
          <p:cNvSpPr txBox="1"/>
          <p:nvPr/>
        </p:nvSpPr>
        <p:spPr bwMode="auto">
          <a:xfrm rot="0" flipH="0" flipV="0">
            <a:off x="4979249" y="5310187"/>
            <a:ext cx="2500259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30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Integrazione in sistemi critici ed uso quotidiano</a:t>
            </a:r>
            <a:endParaRPr sz="3000"/>
          </a:p>
        </p:txBody>
      </p:sp>
      <p:sp>
        <p:nvSpPr>
          <p:cNvPr id="640640316" name=""/>
          <p:cNvSpPr txBox="1"/>
          <p:nvPr/>
        </p:nvSpPr>
        <p:spPr bwMode="auto">
          <a:xfrm rot="0" flipH="0" flipV="0">
            <a:off x="9051187" y="5357812"/>
            <a:ext cx="2683919" cy="13262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Necessità di allineamento ai valori umani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75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bg>
      <p:bgPr shadeToTitle="0">
        <a:solidFill>
          <a:srgbClr val="FFFF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76682" name="Rettangolo"/>
          <p:cNvSpPr/>
          <p:nvPr/>
        </p:nvSpPr>
        <p:spPr bwMode="auto">
          <a:xfrm>
            <a:off x="-6927" y="8400103"/>
            <a:ext cx="13018655" cy="1358092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799" tIns="50799" rIns="50799" bIns="50799" anchor="ctr"/>
          <a:lstStyle/>
          <a:p>
            <a:pPr algn="ctr" defTabSz="584199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911775686" name="Rettangolo"/>
          <p:cNvSpPr/>
          <p:nvPr/>
        </p:nvSpPr>
        <p:spPr bwMode="auto">
          <a:xfrm>
            <a:off x="-6927" y="1890"/>
            <a:ext cx="13018655" cy="1358089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799" tIns="50799" rIns="50799" bIns="50799" anchor="ctr"/>
          <a:lstStyle/>
          <a:p>
            <a:pPr algn="ctr" defTabSz="584199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18013716" name="Introduzione e Background"/>
          <p:cNvSpPr txBox="1"/>
          <p:nvPr/>
        </p:nvSpPr>
        <p:spPr bwMode="auto">
          <a:xfrm>
            <a:off x="557064" y="434833"/>
            <a:ext cx="11619859" cy="650599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La problematica</a:t>
            </a:r>
            <a:endParaRPr/>
          </a:p>
        </p:txBody>
      </p:sp>
      <p:sp>
        <p:nvSpPr>
          <p:cNvPr id="562870028" name="Titolo Tesi…"/>
          <p:cNvSpPr txBox="1"/>
          <p:nvPr/>
        </p:nvSpPr>
        <p:spPr bwMode="auto">
          <a:xfrm>
            <a:off x="7725132" y="8554450"/>
            <a:ext cx="4757335" cy="1089511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/>
          <a:p>
            <a:pPr algn="r"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/>
              <a:t>Analisi del comportamento dei LLM</a:t>
            </a:r>
            <a:r>
              <a:rPr/>
              <a:t> </a:t>
            </a:r>
            <a:endParaRPr/>
          </a:p>
          <a:p>
            <a:pPr algn="r"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/>
              <a:t>Aniello Tremulo</a:t>
            </a:r>
            <a:br>
              <a:rPr/>
            </a:br>
            <a:r>
              <a:rPr/>
              <a:t>Università degli Studi di Salerno</a:t>
            </a:r>
            <a:endParaRPr/>
          </a:p>
        </p:txBody>
      </p:sp>
      <p:sp>
        <p:nvSpPr>
          <p:cNvPr id="2034274003" name="email@studenti.unisa.it…"/>
          <p:cNvSpPr txBox="1"/>
          <p:nvPr/>
        </p:nvSpPr>
        <p:spPr bwMode="auto">
          <a:xfrm flipH="0" flipV="0">
            <a:off x="983155" y="8577329"/>
            <a:ext cx="3172828" cy="431141"/>
          </a:xfrm>
          <a:prstGeom prst="rect">
            <a:avLst/>
          </a:prstGeom>
          <a:ln w="12700">
            <a:miter lim="400000"/>
          </a:ln>
        </p:spPr>
        <p:txBody>
          <a:bodyPr wrap="square" lIns="50799" tIns="50799" rIns="50799" bIns="50799" anchor="ctr">
            <a:spAutoFit/>
          </a:bodyPr>
          <a:lstStyle/>
          <a:p>
            <a:pPr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 lang="it-IT"/>
              <a:t>a.tremulo@studenti.unisa.it</a:t>
            </a:r>
            <a:endParaRPr/>
          </a:p>
        </p:txBody>
      </p:sp>
      <p:pic>
        <p:nvPicPr>
          <p:cNvPr id="395427743" name="email.png" descr="emai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1851" y="8613977"/>
            <a:ext cx="254000" cy="254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86161120" name="Linea"/>
          <p:cNvSpPr/>
          <p:nvPr/>
        </p:nvSpPr>
        <p:spPr bwMode="auto">
          <a:xfrm flipV="1">
            <a:off x="616451" y="2265631"/>
            <a:ext cx="0" cy="5131440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576151998" name="Linea"/>
          <p:cNvSpPr/>
          <p:nvPr/>
        </p:nvSpPr>
        <p:spPr bwMode="auto">
          <a:xfrm flipV="1">
            <a:off x="12403620" y="2265631"/>
            <a:ext cx="0" cy="5131440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pic>
        <p:nvPicPr>
          <p:cNvPr id="2123607194" name="image2.png" descr="image2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250845" y="149168"/>
            <a:ext cx="2208780" cy="1063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502454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286211" y="3218131"/>
            <a:ext cx="2256813" cy="2256813"/>
          </a:xfrm>
          <a:prstGeom prst="rect">
            <a:avLst/>
          </a:prstGeom>
        </p:spPr>
      </p:pic>
      <p:pic>
        <p:nvPicPr>
          <p:cNvPr id="1004371320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1229712" y="2054359"/>
            <a:ext cx="2679357" cy="2679357"/>
          </a:xfrm>
          <a:prstGeom prst="rect">
            <a:avLst/>
          </a:prstGeom>
        </p:spPr>
      </p:pic>
      <p:pic>
        <p:nvPicPr>
          <p:cNvPr id="1398298669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8803096" y="1962250"/>
            <a:ext cx="2990748" cy="2990748"/>
          </a:xfrm>
          <a:prstGeom prst="rect">
            <a:avLst/>
          </a:prstGeom>
        </p:spPr>
      </p:pic>
      <p:sp>
        <p:nvSpPr>
          <p:cNvPr id="1019624730" name=""/>
          <p:cNvSpPr txBox="1"/>
          <p:nvPr/>
        </p:nvSpPr>
        <p:spPr bwMode="auto">
          <a:xfrm rot="0" flipH="0" flipV="0">
            <a:off x="1716937" y="5119687"/>
            <a:ext cx="2382689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Sicurezza</a:t>
            </a:r>
            <a:endParaRPr/>
          </a:p>
        </p:txBody>
      </p:sp>
      <p:sp>
        <p:nvSpPr>
          <p:cNvPr id="1840412515" name=""/>
          <p:cNvSpPr txBox="1"/>
          <p:nvPr/>
        </p:nvSpPr>
        <p:spPr bwMode="auto">
          <a:xfrm rot="0" flipH="0" flipV="0">
            <a:off x="10718062" y="5524499"/>
            <a:ext cx="238844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96106483" name=""/>
          <p:cNvSpPr txBox="1"/>
          <p:nvPr/>
        </p:nvSpPr>
        <p:spPr bwMode="auto">
          <a:xfrm rot="0" flipH="0" flipV="0">
            <a:off x="9813187" y="5024437"/>
            <a:ext cx="1620689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Utilità</a:t>
            </a:r>
            <a:endParaRPr/>
          </a:p>
        </p:txBody>
      </p:sp>
      <p:pic>
        <p:nvPicPr>
          <p:cNvPr id="1410310753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2652496" y="6313529"/>
            <a:ext cx="1693628" cy="846814"/>
          </a:xfrm>
          <a:prstGeom prst="rect">
            <a:avLst/>
          </a:prstGeom>
        </p:spPr>
      </p:pic>
      <p:pic>
        <p:nvPicPr>
          <p:cNvPr id="822798352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1" flipV="0">
            <a:off x="8803096" y="6313529"/>
            <a:ext cx="1693627" cy="846813"/>
          </a:xfrm>
          <a:prstGeom prst="rect">
            <a:avLst/>
          </a:prstGeom>
        </p:spPr>
      </p:pic>
      <p:sp>
        <p:nvSpPr>
          <p:cNvPr id="192342261" name=""/>
          <p:cNvSpPr txBox="1"/>
          <p:nvPr/>
        </p:nvSpPr>
        <p:spPr bwMode="auto">
          <a:xfrm rot="0" flipH="0" flipV="0">
            <a:off x="4486424" y="6881811"/>
            <a:ext cx="4049886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Compromesso Critico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75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bg>
      <p:bgPr shadeToTitle="0">
        <a:solidFill>
          <a:srgbClr val="FFFF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899345" name="Rettangolo"/>
          <p:cNvSpPr/>
          <p:nvPr/>
        </p:nvSpPr>
        <p:spPr bwMode="auto">
          <a:xfrm>
            <a:off x="-6927" y="8400103"/>
            <a:ext cx="13018655" cy="1358092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799" tIns="50799" rIns="50799" bIns="50799" anchor="ctr"/>
          <a:lstStyle/>
          <a:p>
            <a:pPr algn="ctr" defTabSz="584199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319579047" name="Rettangolo"/>
          <p:cNvSpPr/>
          <p:nvPr/>
        </p:nvSpPr>
        <p:spPr bwMode="auto">
          <a:xfrm>
            <a:off x="-6927" y="1890"/>
            <a:ext cx="13018655" cy="1358089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799" tIns="50799" rIns="50799" bIns="50799" anchor="ctr"/>
          <a:lstStyle/>
          <a:p>
            <a:pPr algn="ctr" defTabSz="584199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9528935" name="Introduzione e Background"/>
          <p:cNvSpPr txBox="1"/>
          <p:nvPr/>
        </p:nvSpPr>
        <p:spPr bwMode="auto">
          <a:xfrm>
            <a:off x="557064" y="444193"/>
            <a:ext cx="11629219" cy="650599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Metodologia</a:t>
            </a:r>
            <a:endParaRPr/>
          </a:p>
        </p:txBody>
      </p:sp>
      <p:sp>
        <p:nvSpPr>
          <p:cNvPr id="1148820304" name="Titolo Tesi…"/>
          <p:cNvSpPr txBox="1"/>
          <p:nvPr/>
        </p:nvSpPr>
        <p:spPr bwMode="auto">
          <a:xfrm>
            <a:off x="7725132" y="8554450"/>
            <a:ext cx="4757335" cy="1089511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/>
          <a:p>
            <a:pPr algn="r"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/>
              <a:t>Analisi del comportamento dei LLM</a:t>
            </a:r>
            <a:r>
              <a:rPr/>
              <a:t> </a:t>
            </a:r>
            <a:endParaRPr/>
          </a:p>
          <a:p>
            <a:pPr algn="r"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/>
              <a:t>Aniello Tremulo</a:t>
            </a:r>
            <a:br>
              <a:rPr/>
            </a:br>
            <a:r>
              <a:rPr/>
              <a:t>Università degli Studi di Salerno</a:t>
            </a:r>
            <a:endParaRPr/>
          </a:p>
        </p:txBody>
      </p:sp>
      <p:sp>
        <p:nvSpPr>
          <p:cNvPr id="1219668191" name="email@studenti.unisa.it…"/>
          <p:cNvSpPr txBox="1"/>
          <p:nvPr/>
        </p:nvSpPr>
        <p:spPr bwMode="auto">
          <a:xfrm flipH="0" flipV="0">
            <a:off x="983155" y="8577329"/>
            <a:ext cx="3172828" cy="431141"/>
          </a:xfrm>
          <a:prstGeom prst="rect">
            <a:avLst/>
          </a:prstGeom>
          <a:ln w="12700">
            <a:miter lim="400000"/>
          </a:ln>
        </p:spPr>
        <p:txBody>
          <a:bodyPr wrap="square" lIns="50799" tIns="50799" rIns="50799" bIns="50799" anchor="ctr">
            <a:spAutoFit/>
          </a:bodyPr>
          <a:lstStyle/>
          <a:p>
            <a:pPr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 lang="it-IT"/>
              <a:t>a.tremulo@studenti.unisa.it</a:t>
            </a:r>
            <a:endParaRPr/>
          </a:p>
        </p:txBody>
      </p:sp>
      <p:pic>
        <p:nvPicPr>
          <p:cNvPr id="1891763366" name="email.png" descr="emai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1851" y="8613977"/>
            <a:ext cx="254000" cy="254000"/>
          </a:xfrm>
          <a:prstGeom prst="rect">
            <a:avLst/>
          </a:prstGeom>
          <a:ln w="12700">
            <a:miter lim="400000"/>
          </a:ln>
        </p:spPr>
      </p:pic>
      <p:sp>
        <p:nvSpPr>
          <p:cNvPr id="586862376" name="Linea"/>
          <p:cNvSpPr/>
          <p:nvPr/>
        </p:nvSpPr>
        <p:spPr bwMode="auto">
          <a:xfrm flipV="1">
            <a:off x="616451" y="2265631"/>
            <a:ext cx="0" cy="5131440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516274314" name="Linea"/>
          <p:cNvSpPr/>
          <p:nvPr/>
        </p:nvSpPr>
        <p:spPr bwMode="auto">
          <a:xfrm flipV="1">
            <a:off x="12403620" y="2265631"/>
            <a:ext cx="0" cy="5131440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pic>
        <p:nvPicPr>
          <p:cNvPr id="757607987" name="image2.png" descr="image2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250845" y="149168"/>
            <a:ext cx="2208780" cy="1063531"/>
          </a:xfrm>
          <a:prstGeom prst="rect">
            <a:avLst/>
          </a:prstGeom>
          <a:ln w="12700">
            <a:miter lim="400000"/>
          </a:ln>
        </p:spPr>
      </p:pic>
      <p:sp>
        <p:nvSpPr>
          <p:cNvPr id="201807160" name=""/>
          <p:cNvSpPr txBox="1"/>
          <p:nvPr/>
        </p:nvSpPr>
        <p:spPr bwMode="auto">
          <a:xfrm rot="0" flipH="0" flipV="0">
            <a:off x="10718062" y="5524499"/>
            <a:ext cx="238844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46601102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373187" y="2170381"/>
            <a:ext cx="1939187" cy="1939187"/>
          </a:xfrm>
          <a:prstGeom prst="rect">
            <a:avLst/>
          </a:prstGeom>
        </p:spPr>
      </p:pic>
      <p:pic>
        <p:nvPicPr>
          <p:cNvPr id="593284548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218013" y="2206057"/>
            <a:ext cx="1903511" cy="1903511"/>
          </a:xfrm>
          <a:prstGeom prst="rect">
            <a:avLst/>
          </a:prstGeom>
        </p:spPr>
      </p:pic>
      <p:pic>
        <p:nvPicPr>
          <p:cNvPr id="1626101808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8942009" y="2206057"/>
            <a:ext cx="2204677" cy="2204677"/>
          </a:xfrm>
          <a:prstGeom prst="rect">
            <a:avLst/>
          </a:prstGeom>
        </p:spPr>
      </p:pic>
      <p:sp>
        <p:nvSpPr>
          <p:cNvPr id="1175807884" name=""/>
          <p:cNvSpPr/>
          <p:nvPr/>
        </p:nvSpPr>
        <p:spPr bwMode="auto">
          <a:xfrm rot="0" flipH="0" flipV="0">
            <a:off x="3574312" y="2881312"/>
            <a:ext cx="1214437" cy="4286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</p:spPr>
        <p:style>
          <a:lnRef idx="0"/>
          <a:fillRef idx="0"/>
          <a:effectRef idx="0"/>
          <a:fontRef idx="none"/>
        </p:style>
      </p:sp>
      <p:sp>
        <p:nvSpPr>
          <p:cNvPr id="453425511" name=""/>
          <p:cNvSpPr/>
          <p:nvPr/>
        </p:nvSpPr>
        <p:spPr bwMode="auto">
          <a:xfrm rot="0" flipH="0" flipV="0">
            <a:off x="7393836" y="2881312"/>
            <a:ext cx="1214436" cy="4286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</p:spPr>
        <p:style>
          <a:lnRef idx="0"/>
          <a:fillRef idx="0"/>
          <a:effectRef idx="0"/>
          <a:fontRef idx="none"/>
        </p:style>
      </p:sp>
      <p:sp>
        <p:nvSpPr>
          <p:cNvPr id="2106547505" name=""/>
          <p:cNvSpPr txBox="1"/>
          <p:nvPr/>
        </p:nvSpPr>
        <p:spPr bwMode="auto">
          <a:xfrm rot="0" flipH="0" flipV="0">
            <a:off x="978749" y="4500562"/>
            <a:ext cx="2955269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     Dataset di promt avversari</a:t>
            </a:r>
            <a:endParaRPr/>
          </a:p>
        </p:txBody>
      </p:sp>
      <p:sp>
        <p:nvSpPr>
          <p:cNvPr id="359126859" name=""/>
          <p:cNvSpPr txBox="1"/>
          <p:nvPr/>
        </p:nvSpPr>
        <p:spPr bwMode="auto">
          <a:xfrm rot="0" flipH="0" flipV="0">
            <a:off x="4955437" y="4548187"/>
            <a:ext cx="2552976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   Script di         automazione</a:t>
            </a:r>
            <a:endParaRPr/>
          </a:p>
        </p:txBody>
      </p:sp>
      <p:sp>
        <p:nvSpPr>
          <p:cNvPr id="1332060748" name=""/>
          <p:cNvSpPr txBox="1"/>
          <p:nvPr/>
        </p:nvSpPr>
        <p:spPr bwMode="auto">
          <a:xfrm rot="0" flipH="0" flipV="0">
            <a:off x="8608273" y="4691062"/>
            <a:ext cx="3210923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Analisi Output</a:t>
            </a:r>
            <a:endParaRPr/>
          </a:p>
        </p:txBody>
      </p:sp>
      <p:sp>
        <p:nvSpPr>
          <p:cNvPr id="2054978133" name=""/>
          <p:cNvSpPr/>
          <p:nvPr/>
        </p:nvSpPr>
        <p:spPr bwMode="auto">
          <a:xfrm rot="5399999" flipH="0" flipV="0">
            <a:off x="5967362" y="1525608"/>
            <a:ext cx="404812" cy="8501062"/>
          </a:xfrm>
          <a:prstGeom prst="rightBrace">
            <a:avLst>
              <a:gd name="adj1" fmla="val 8333"/>
              <a:gd name="adj2" fmla="val 50000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</p:spPr>
        <p:style>
          <a:lnRef idx="0"/>
          <a:fillRef idx="0"/>
          <a:effectRef idx="0"/>
          <a:fontRef idx="none"/>
        </p:style>
      </p:sp>
      <p:sp>
        <p:nvSpPr>
          <p:cNvPr id="344980533" name=""/>
          <p:cNvSpPr txBox="1"/>
          <p:nvPr/>
        </p:nvSpPr>
        <p:spPr bwMode="auto">
          <a:xfrm rot="0" flipH="0" flipV="0">
            <a:off x="2764687" y="6357937"/>
            <a:ext cx="7339833" cy="58557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3600" b="1"/>
              <a:t>           Test di Robustezza</a:t>
            </a:r>
            <a:endParaRPr sz="3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75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bg>
      <p:bgPr shadeToTitle="0">
        <a:solidFill>
          <a:srgbClr val="FFFF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205118" name="Rettangolo"/>
          <p:cNvSpPr/>
          <p:nvPr/>
        </p:nvSpPr>
        <p:spPr bwMode="auto">
          <a:xfrm>
            <a:off x="-6927" y="8400103"/>
            <a:ext cx="13018655" cy="1358092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799" tIns="50799" rIns="50799" bIns="50799" anchor="ctr"/>
          <a:lstStyle/>
          <a:p>
            <a:pPr algn="ctr" defTabSz="584199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74813499" name="Rettangolo"/>
          <p:cNvSpPr/>
          <p:nvPr/>
        </p:nvSpPr>
        <p:spPr bwMode="auto">
          <a:xfrm>
            <a:off x="-6927" y="1890"/>
            <a:ext cx="13018655" cy="1358089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799" tIns="50799" rIns="50799" bIns="50799" anchor="ctr"/>
          <a:lstStyle/>
          <a:p>
            <a:pPr algn="ctr" defTabSz="584199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914354333" name="Introduzione e Background"/>
          <p:cNvSpPr txBox="1"/>
          <p:nvPr/>
        </p:nvSpPr>
        <p:spPr bwMode="auto">
          <a:xfrm>
            <a:off x="557064" y="445993"/>
            <a:ext cx="11631019" cy="650599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Funzionamento</a:t>
            </a:r>
            <a:endParaRPr/>
          </a:p>
        </p:txBody>
      </p:sp>
      <p:sp>
        <p:nvSpPr>
          <p:cNvPr id="531790149" name="Titolo Tesi…"/>
          <p:cNvSpPr txBox="1"/>
          <p:nvPr/>
        </p:nvSpPr>
        <p:spPr bwMode="auto">
          <a:xfrm>
            <a:off x="7725132" y="8554450"/>
            <a:ext cx="4757335" cy="1089511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/>
          <a:p>
            <a:pPr algn="r"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/>
              <a:t>Analisi del comportamento dei LLM</a:t>
            </a:r>
            <a:r>
              <a:rPr/>
              <a:t> </a:t>
            </a:r>
            <a:endParaRPr/>
          </a:p>
          <a:p>
            <a:pPr algn="r"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/>
              <a:t>Aniello Tremulo</a:t>
            </a:r>
            <a:br>
              <a:rPr/>
            </a:br>
            <a:r>
              <a:rPr/>
              <a:t>Università degli Studi di Salerno</a:t>
            </a:r>
            <a:endParaRPr/>
          </a:p>
        </p:txBody>
      </p:sp>
      <p:sp>
        <p:nvSpPr>
          <p:cNvPr id="794854469" name="email@studenti.unisa.it…"/>
          <p:cNvSpPr txBox="1"/>
          <p:nvPr/>
        </p:nvSpPr>
        <p:spPr bwMode="auto">
          <a:xfrm flipH="0" flipV="0">
            <a:off x="983155" y="8577329"/>
            <a:ext cx="3172828" cy="431141"/>
          </a:xfrm>
          <a:prstGeom prst="rect">
            <a:avLst/>
          </a:prstGeom>
          <a:ln w="12700">
            <a:miter lim="400000"/>
          </a:ln>
        </p:spPr>
        <p:txBody>
          <a:bodyPr wrap="square" lIns="50799" tIns="50799" rIns="50799" bIns="50799" anchor="ctr">
            <a:spAutoFit/>
          </a:bodyPr>
          <a:lstStyle/>
          <a:p>
            <a:pPr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 lang="it-IT"/>
              <a:t>a.tremulo@studenti.unisa.it</a:t>
            </a:r>
            <a:endParaRPr/>
          </a:p>
        </p:txBody>
      </p:sp>
      <p:pic>
        <p:nvPicPr>
          <p:cNvPr id="1076970803" name="email.png" descr="emai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1851" y="8613977"/>
            <a:ext cx="254000" cy="254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0060864" name="Linea"/>
          <p:cNvSpPr/>
          <p:nvPr/>
        </p:nvSpPr>
        <p:spPr bwMode="auto">
          <a:xfrm flipV="1">
            <a:off x="616451" y="2265631"/>
            <a:ext cx="0" cy="5131440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1244503493" name="Linea"/>
          <p:cNvSpPr/>
          <p:nvPr/>
        </p:nvSpPr>
        <p:spPr bwMode="auto">
          <a:xfrm flipV="1">
            <a:off x="12403620" y="2265631"/>
            <a:ext cx="0" cy="5131440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pic>
        <p:nvPicPr>
          <p:cNvPr id="5542925" name="image2.png" descr="image2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250845" y="149168"/>
            <a:ext cx="2208780" cy="1063531"/>
          </a:xfrm>
          <a:prstGeom prst="rect">
            <a:avLst/>
          </a:prstGeom>
          <a:ln w="12700">
            <a:miter lim="400000"/>
          </a:ln>
        </p:spPr>
      </p:pic>
      <p:sp>
        <p:nvSpPr>
          <p:cNvPr id="136023269" name=""/>
          <p:cNvSpPr txBox="1"/>
          <p:nvPr/>
        </p:nvSpPr>
        <p:spPr bwMode="auto">
          <a:xfrm rot="0" flipH="0" flipV="0">
            <a:off x="10718062" y="5524499"/>
            <a:ext cx="238844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87271477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57063" y="3751303"/>
            <a:ext cx="2276474" cy="2276474"/>
          </a:xfrm>
          <a:prstGeom prst="rect">
            <a:avLst/>
          </a:prstGeom>
        </p:spPr>
      </p:pic>
      <p:pic>
        <p:nvPicPr>
          <p:cNvPr id="987170897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3226185" y="3751303"/>
            <a:ext cx="3441251" cy="1935703"/>
          </a:xfrm>
          <a:prstGeom prst="rect">
            <a:avLst/>
          </a:prstGeom>
        </p:spPr>
      </p:pic>
      <p:sp>
        <p:nvSpPr>
          <p:cNvPr id="836421744" name=""/>
          <p:cNvSpPr txBox="1"/>
          <p:nvPr/>
        </p:nvSpPr>
        <p:spPr bwMode="auto">
          <a:xfrm rot="0" flipH="0" flipV="0">
            <a:off x="983156" y="6468787"/>
            <a:ext cx="1864574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Llama</a:t>
            </a:r>
            <a:r>
              <a:rPr lang="it-IT"/>
              <a:t> 3</a:t>
            </a:r>
            <a:endParaRPr/>
          </a:p>
        </p:txBody>
      </p:sp>
      <p:sp>
        <p:nvSpPr>
          <p:cNvPr id="1242421185" name=""/>
          <p:cNvSpPr txBox="1"/>
          <p:nvPr/>
        </p:nvSpPr>
        <p:spPr bwMode="auto">
          <a:xfrm rot="0" flipH="0" flipV="0">
            <a:off x="1838827" y="2013991"/>
            <a:ext cx="2903016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Modelli utilizzati</a:t>
            </a:r>
            <a:endParaRPr/>
          </a:p>
        </p:txBody>
      </p:sp>
      <p:pic>
        <p:nvPicPr>
          <p:cNvPr id="276691364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7598950" y="3234313"/>
            <a:ext cx="1964647" cy="1964647"/>
          </a:xfrm>
          <a:prstGeom prst="rect">
            <a:avLst/>
          </a:prstGeom>
        </p:spPr>
      </p:pic>
      <p:sp>
        <p:nvSpPr>
          <p:cNvPr id="1223320921" name=""/>
          <p:cNvSpPr txBox="1"/>
          <p:nvPr/>
        </p:nvSpPr>
        <p:spPr bwMode="auto">
          <a:xfrm rot="0" flipH="0" flipV="0">
            <a:off x="7903427" y="2013991"/>
            <a:ext cx="4400746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Dataset e Metodologia</a:t>
            </a:r>
            <a:endParaRPr/>
          </a:p>
        </p:txBody>
      </p:sp>
      <p:sp>
        <p:nvSpPr>
          <p:cNvPr id="1928454881" name=""/>
          <p:cNvSpPr txBox="1"/>
          <p:nvPr/>
        </p:nvSpPr>
        <p:spPr bwMode="auto">
          <a:xfrm rot="0" flipH="0" flipV="0">
            <a:off x="7248201" y="6191249"/>
            <a:ext cx="4844632" cy="3368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Task di base sottoposti a         Mutazioni</a:t>
            </a:r>
            <a:r>
              <a:rPr lang="it-IT"/>
              <a:t> </a:t>
            </a:r>
            <a:endParaRPr lang="it-IT"/>
          </a:p>
          <a:p>
            <a:pPr algn="l">
              <a:defRPr/>
            </a:pPr>
            <a:endParaRPr lang="it-IT"/>
          </a:p>
          <a:p>
            <a:pPr algn="l">
              <a:defRPr/>
            </a:pPr>
            <a:endParaRPr lang="it-IT"/>
          </a:p>
          <a:p>
            <a:pPr algn="just">
              <a:defRPr/>
            </a:pPr>
            <a:endParaRPr lang="it-IT"/>
          </a:p>
        </p:txBody>
      </p:sp>
      <p:pic>
        <p:nvPicPr>
          <p:cNvPr id="399945187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10062901" y="3101532"/>
            <a:ext cx="1788008" cy="17880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75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bg>
      <p:bgPr shadeToTitle="0">
        <a:solidFill>
          <a:srgbClr val="FFFF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636172" name="Rettangolo"/>
          <p:cNvSpPr/>
          <p:nvPr/>
        </p:nvSpPr>
        <p:spPr bwMode="auto">
          <a:xfrm>
            <a:off x="-6927" y="8400103"/>
            <a:ext cx="13018655" cy="1358092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799" tIns="50799" rIns="50799" bIns="50799" anchor="ctr"/>
          <a:lstStyle/>
          <a:p>
            <a:pPr algn="ctr" defTabSz="584199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629959008" name="Rettangolo"/>
          <p:cNvSpPr/>
          <p:nvPr/>
        </p:nvSpPr>
        <p:spPr bwMode="auto">
          <a:xfrm>
            <a:off x="-6927" y="1890"/>
            <a:ext cx="13018655" cy="1358089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799" tIns="50799" rIns="50799" bIns="50799" anchor="ctr"/>
          <a:lstStyle/>
          <a:p>
            <a:pPr algn="ctr" defTabSz="584199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720868049" name="Introduzione e Background"/>
          <p:cNvSpPr txBox="1"/>
          <p:nvPr/>
        </p:nvSpPr>
        <p:spPr bwMode="auto">
          <a:xfrm>
            <a:off x="557064" y="447073"/>
            <a:ext cx="11632099" cy="650599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Esempi di Mutazione</a:t>
            </a:r>
            <a:endParaRPr/>
          </a:p>
        </p:txBody>
      </p:sp>
      <p:sp>
        <p:nvSpPr>
          <p:cNvPr id="634149796" name="Titolo Tesi…"/>
          <p:cNvSpPr txBox="1"/>
          <p:nvPr/>
        </p:nvSpPr>
        <p:spPr bwMode="auto">
          <a:xfrm>
            <a:off x="7725132" y="8554450"/>
            <a:ext cx="4757335" cy="1089511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/>
          <a:p>
            <a:pPr algn="r"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/>
              <a:t>Analisi del comportamento dei LLM</a:t>
            </a:r>
            <a:r>
              <a:rPr/>
              <a:t> </a:t>
            </a:r>
            <a:endParaRPr/>
          </a:p>
          <a:p>
            <a:pPr algn="r"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/>
              <a:t>Aniello Tremulo</a:t>
            </a:r>
            <a:br>
              <a:rPr/>
            </a:br>
            <a:r>
              <a:rPr/>
              <a:t>Università degli Studi di Salerno</a:t>
            </a:r>
            <a:endParaRPr/>
          </a:p>
        </p:txBody>
      </p:sp>
      <p:sp>
        <p:nvSpPr>
          <p:cNvPr id="2043270445" name="email@studenti.unisa.it…"/>
          <p:cNvSpPr txBox="1"/>
          <p:nvPr/>
        </p:nvSpPr>
        <p:spPr bwMode="auto">
          <a:xfrm flipH="0" flipV="0">
            <a:off x="983155" y="8577329"/>
            <a:ext cx="3172828" cy="431141"/>
          </a:xfrm>
          <a:prstGeom prst="rect">
            <a:avLst/>
          </a:prstGeom>
          <a:ln w="12700">
            <a:miter lim="400000"/>
          </a:ln>
        </p:spPr>
        <p:txBody>
          <a:bodyPr wrap="square" lIns="50799" tIns="50799" rIns="50799" bIns="50799" anchor="ctr">
            <a:spAutoFit/>
          </a:bodyPr>
          <a:lstStyle/>
          <a:p>
            <a:pPr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 lang="it-IT"/>
              <a:t>a.tremulo@studenti.unisa.it</a:t>
            </a:r>
            <a:endParaRPr/>
          </a:p>
        </p:txBody>
      </p:sp>
      <p:pic>
        <p:nvPicPr>
          <p:cNvPr id="986115703" name="email.png" descr="emai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1851" y="8613977"/>
            <a:ext cx="254000" cy="254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25592700" name="Linea"/>
          <p:cNvSpPr/>
          <p:nvPr/>
        </p:nvSpPr>
        <p:spPr bwMode="auto">
          <a:xfrm flipV="1">
            <a:off x="616451" y="2265631"/>
            <a:ext cx="0" cy="5131440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989731999" name="Linea"/>
          <p:cNvSpPr/>
          <p:nvPr/>
        </p:nvSpPr>
        <p:spPr bwMode="auto">
          <a:xfrm flipV="1">
            <a:off x="12403620" y="2265631"/>
            <a:ext cx="0" cy="5131440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pic>
        <p:nvPicPr>
          <p:cNvPr id="740094652" name="image2.png" descr="image2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250845" y="149168"/>
            <a:ext cx="2208780" cy="1063531"/>
          </a:xfrm>
          <a:prstGeom prst="rect">
            <a:avLst/>
          </a:prstGeom>
          <a:ln w="12700">
            <a:miter lim="400000"/>
          </a:ln>
        </p:spPr>
      </p:pic>
      <p:sp>
        <p:nvSpPr>
          <p:cNvPr id="2080869257" name=""/>
          <p:cNvSpPr txBox="1"/>
          <p:nvPr/>
        </p:nvSpPr>
        <p:spPr bwMode="auto">
          <a:xfrm rot="0" flipH="0" flipV="0">
            <a:off x="10718062" y="5524499"/>
            <a:ext cx="238844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043389982" name=""/>
          <p:cNvSpPr txBox="1"/>
          <p:nvPr/>
        </p:nvSpPr>
        <p:spPr bwMode="auto">
          <a:xfrm rot="0" flipH="0" flipV="0">
            <a:off x="1473120" y="2013991"/>
            <a:ext cx="5365372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209014540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764527" y="2076433"/>
            <a:ext cx="2000283" cy="2000283"/>
          </a:xfrm>
          <a:prstGeom prst="rect">
            <a:avLst/>
          </a:prstGeom>
        </p:spPr>
      </p:pic>
      <p:pic>
        <p:nvPicPr>
          <p:cNvPr id="2144870767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794489" y="2098717"/>
            <a:ext cx="1861287" cy="1861287"/>
          </a:xfrm>
          <a:prstGeom prst="rect">
            <a:avLst/>
          </a:prstGeom>
        </p:spPr>
      </p:pic>
      <p:pic>
        <p:nvPicPr>
          <p:cNvPr id="1972451492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1680277" y="5524499"/>
            <a:ext cx="1966912" cy="1966912"/>
          </a:xfrm>
          <a:prstGeom prst="rect">
            <a:avLst/>
          </a:prstGeom>
        </p:spPr>
      </p:pic>
      <p:pic>
        <p:nvPicPr>
          <p:cNvPr id="645235901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7285831" y="5667374"/>
            <a:ext cx="1962999" cy="1962999"/>
          </a:xfrm>
          <a:prstGeom prst="rect">
            <a:avLst/>
          </a:prstGeom>
        </p:spPr>
      </p:pic>
      <p:sp>
        <p:nvSpPr>
          <p:cNvPr id="1830656763" name=""/>
          <p:cNvSpPr txBox="1"/>
          <p:nvPr/>
        </p:nvSpPr>
        <p:spPr bwMode="auto">
          <a:xfrm rot="0" flipH="0" flipV="0">
            <a:off x="1931249" y="1595437"/>
            <a:ext cx="3431880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Standard</a:t>
            </a:r>
            <a:endParaRPr/>
          </a:p>
        </p:txBody>
      </p:sp>
      <p:sp>
        <p:nvSpPr>
          <p:cNvPr id="1008574972" name=""/>
          <p:cNvSpPr txBox="1"/>
          <p:nvPr/>
        </p:nvSpPr>
        <p:spPr bwMode="auto">
          <a:xfrm rot="0" flipH="0" flipV="0">
            <a:off x="4050562" y="2381249"/>
            <a:ext cx="2549377" cy="13262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Richiesta diretta e pulita</a:t>
            </a:r>
            <a:endParaRPr/>
          </a:p>
        </p:txBody>
      </p:sp>
      <p:sp>
        <p:nvSpPr>
          <p:cNvPr id="964629630" name=""/>
          <p:cNvSpPr txBox="1"/>
          <p:nvPr/>
        </p:nvSpPr>
        <p:spPr bwMode="auto">
          <a:xfrm rot="0" flipH="0" flipV="0">
            <a:off x="6765187" y="1595437"/>
            <a:ext cx="2957789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Formato JSon</a:t>
            </a:r>
            <a:endParaRPr/>
          </a:p>
        </p:txBody>
      </p:sp>
      <p:sp>
        <p:nvSpPr>
          <p:cNvPr id="466189358" name=""/>
          <p:cNvSpPr txBox="1"/>
          <p:nvPr/>
        </p:nvSpPr>
        <p:spPr bwMode="auto">
          <a:xfrm rot="0" flipH="0" flipV="0">
            <a:off x="9313124" y="2405062"/>
            <a:ext cx="2725785" cy="13262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Vincolo strutturale sull’output</a:t>
            </a:r>
            <a:endParaRPr/>
          </a:p>
        </p:txBody>
      </p:sp>
      <p:sp>
        <p:nvSpPr>
          <p:cNvPr id="695244800" name=""/>
          <p:cNvSpPr txBox="1"/>
          <p:nvPr/>
        </p:nvSpPr>
        <p:spPr bwMode="auto">
          <a:xfrm rot="0" flipH="0" flipV="0">
            <a:off x="1312124" y="4738687"/>
            <a:ext cx="3220807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Tono Aggressivo</a:t>
            </a:r>
            <a:endParaRPr/>
          </a:p>
        </p:txBody>
      </p:sp>
      <p:sp>
        <p:nvSpPr>
          <p:cNvPr id="291660038" name=""/>
          <p:cNvSpPr txBox="1"/>
          <p:nvPr/>
        </p:nvSpPr>
        <p:spPr bwMode="auto">
          <a:xfrm rot="0" flipH="0" flipV="0">
            <a:off x="4336312" y="5881687"/>
            <a:ext cx="2037521" cy="13262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Pressione sul modello</a:t>
            </a:r>
            <a:endParaRPr/>
          </a:p>
        </p:txBody>
      </p:sp>
      <p:sp>
        <p:nvSpPr>
          <p:cNvPr id="1573910318" name=""/>
          <p:cNvSpPr txBox="1"/>
          <p:nvPr/>
        </p:nvSpPr>
        <p:spPr bwMode="auto">
          <a:xfrm rot="0" flipH="0" flipV="0">
            <a:off x="7193812" y="4738687"/>
            <a:ext cx="2860740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Typos</a:t>
            </a:r>
            <a:endParaRPr/>
          </a:p>
        </p:txBody>
      </p:sp>
      <p:sp>
        <p:nvSpPr>
          <p:cNvPr id="1202849890" name=""/>
          <p:cNvSpPr txBox="1"/>
          <p:nvPr/>
        </p:nvSpPr>
        <p:spPr bwMode="auto">
          <a:xfrm rot="0" flipH="0" flipV="0">
            <a:off x="9670312" y="5786437"/>
            <a:ext cx="2520291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Errori logici e perturbazioni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75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bg>
      <p:bgPr shadeToTitle="0">
        <a:solidFill>
          <a:srgbClr val="FFFF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103971" name="Rettangolo"/>
          <p:cNvSpPr/>
          <p:nvPr/>
        </p:nvSpPr>
        <p:spPr bwMode="auto">
          <a:xfrm>
            <a:off x="-6927" y="8400103"/>
            <a:ext cx="13018655" cy="1358092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799" tIns="50799" rIns="50799" bIns="50799" anchor="ctr"/>
          <a:lstStyle/>
          <a:p>
            <a:pPr algn="ctr" defTabSz="584199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90790745" name="Rettangolo"/>
          <p:cNvSpPr/>
          <p:nvPr/>
        </p:nvSpPr>
        <p:spPr bwMode="auto">
          <a:xfrm>
            <a:off x="-6927" y="1890"/>
            <a:ext cx="13018655" cy="1358089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799" tIns="50799" rIns="50799" bIns="50799" anchor="ctr"/>
          <a:lstStyle/>
          <a:p>
            <a:pPr algn="ctr" defTabSz="584199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402522461" name="Introduzione e Background"/>
          <p:cNvSpPr txBox="1"/>
          <p:nvPr/>
        </p:nvSpPr>
        <p:spPr bwMode="auto">
          <a:xfrm>
            <a:off x="557064" y="443113"/>
            <a:ext cx="11628139" cy="650599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Analisi dei risultati</a:t>
            </a:r>
            <a:endParaRPr/>
          </a:p>
        </p:txBody>
      </p:sp>
      <p:sp>
        <p:nvSpPr>
          <p:cNvPr id="1681967361" name="Titolo Tesi…"/>
          <p:cNvSpPr txBox="1"/>
          <p:nvPr/>
        </p:nvSpPr>
        <p:spPr bwMode="auto">
          <a:xfrm>
            <a:off x="7725132" y="8554450"/>
            <a:ext cx="4757335" cy="1089511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/>
          <a:p>
            <a:pPr algn="r"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/>
              <a:t>Analisi del comportamento dei LLM</a:t>
            </a:r>
            <a:r>
              <a:rPr/>
              <a:t> </a:t>
            </a:r>
            <a:endParaRPr/>
          </a:p>
          <a:p>
            <a:pPr algn="r"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/>
              <a:t>Aniello Tremulo</a:t>
            </a:r>
            <a:br>
              <a:rPr/>
            </a:br>
            <a:r>
              <a:rPr/>
              <a:t>Università degli Studi di Salerno</a:t>
            </a:r>
            <a:endParaRPr/>
          </a:p>
        </p:txBody>
      </p:sp>
      <p:sp>
        <p:nvSpPr>
          <p:cNvPr id="1765834298" name="email@studenti.unisa.it…"/>
          <p:cNvSpPr txBox="1"/>
          <p:nvPr/>
        </p:nvSpPr>
        <p:spPr bwMode="auto">
          <a:xfrm flipH="0" flipV="0">
            <a:off x="983155" y="8577329"/>
            <a:ext cx="3172828" cy="431141"/>
          </a:xfrm>
          <a:prstGeom prst="rect">
            <a:avLst/>
          </a:prstGeom>
          <a:ln w="12700">
            <a:miter lim="400000"/>
          </a:ln>
        </p:spPr>
        <p:txBody>
          <a:bodyPr wrap="square" lIns="50799" tIns="50799" rIns="50799" bIns="50799" anchor="ctr">
            <a:spAutoFit/>
          </a:bodyPr>
          <a:lstStyle/>
          <a:p>
            <a:pPr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 lang="it-IT"/>
              <a:t>a.tremulo@studenti.unisa.it</a:t>
            </a:r>
            <a:endParaRPr/>
          </a:p>
        </p:txBody>
      </p:sp>
      <p:pic>
        <p:nvPicPr>
          <p:cNvPr id="1378975313" name="email.png" descr="emai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1851" y="8613977"/>
            <a:ext cx="254000" cy="254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6648623" name="Linea"/>
          <p:cNvSpPr/>
          <p:nvPr/>
        </p:nvSpPr>
        <p:spPr bwMode="auto">
          <a:xfrm flipV="1">
            <a:off x="616451" y="2265631"/>
            <a:ext cx="0" cy="5131440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1984839380" name="Linea"/>
          <p:cNvSpPr/>
          <p:nvPr/>
        </p:nvSpPr>
        <p:spPr bwMode="auto">
          <a:xfrm flipV="1">
            <a:off x="12403620" y="2265631"/>
            <a:ext cx="0" cy="5131440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pic>
        <p:nvPicPr>
          <p:cNvPr id="452287966" name="image2.png" descr="image2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250845" y="149168"/>
            <a:ext cx="2208780" cy="1063531"/>
          </a:xfrm>
          <a:prstGeom prst="rect">
            <a:avLst/>
          </a:prstGeom>
          <a:ln w="12700">
            <a:miter lim="400000"/>
          </a:ln>
        </p:spPr>
      </p:pic>
      <p:sp>
        <p:nvSpPr>
          <p:cNvPr id="540353141" name=""/>
          <p:cNvSpPr txBox="1"/>
          <p:nvPr/>
        </p:nvSpPr>
        <p:spPr bwMode="auto">
          <a:xfrm rot="0" flipH="0" flipV="0">
            <a:off x="10718062" y="5524499"/>
            <a:ext cx="238844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209321156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14857" y="1785937"/>
            <a:ext cx="11575084" cy="5121864"/>
          </a:xfrm>
          <a:prstGeom prst="rect">
            <a:avLst/>
          </a:prstGeom>
        </p:spPr>
      </p:pic>
      <p:sp>
        <p:nvSpPr>
          <p:cNvPr id="2046234406" name=""/>
          <p:cNvSpPr txBox="1"/>
          <p:nvPr/>
        </p:nvSpPr>
        <p:spPr bwMode="auto">
          <a:xfrm rot="0" flipH="0" flipV="0">
            <a:off x="1169249" y="7048499"/>
            <a:ext cx="4564747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b="1"/>
              <a:t>Gemini Pro:</a:t>
            </a:r>
            <a:r>
              <a:rPr lang="it-IT" b="0"/>
              <a:t> sensibile alla pressione</a:t>
            </a:r>
            <a:endParaRPr b="0"/>
          </a:p>
        </p:txBody>
      </p:sp>
      <p:sp>
        <p:nvSpPr>
          <p:cNvPr id="115490560" name=""/>
          <p:cNvSpPr txBox="1"/>
          <p:nvPr/>
        </p:nvSpPr>
        <p:spPr bwMode="auto">
          <a:xfrm rot="0" flipH="0" flipV="0">
            <a:off x="6669937" y="7048499"/>
            <a:ext cx="4831364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b="1"/>
              <a:t>Llama 3:</a:t>
            </a:r>
            <a:r>
              <a:rPr lang="it-IT" b="0"/>
              <a:t> sensibile alle perturbazioni sintattiche</a:t>
            </a:r>
            <a:endParaRPr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75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bg>
      <p:bgPr shadeToTitle="0">
        <a:solidFill>
          <a:srgbClr val="FFFF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044948" name="Rettangolo"/>
          <p:cNvSpPr/>
          <p:nvPr/>
        </p:nvSpPr>
        <p:spPr bwMode="auto">
          <a:xfrm>
            <a:off x="-6927" y="8400103"/>
            <a:ext cx="13018655" cy="1358092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799" tIns="50799" rIns="50799" bIns="50799" anchor="ctr"/>
          <a:lstStyle/>
          <a:p>
            <a:pPr algn="ctr" defTabSz="584199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511173725" name="Rettangolo"/>
          <p:cNvSpPr/>
          <p:nvPr/>
        </p:nvSpPr>
        <p:spPr bwMode="auto">
          <a:xfrm>
            <a:off x="-6927" y="1890"/>
            <a:ext cx="13018655" cy="1358089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799" tIns="50799" rIns="50799" bIns="50799" anchor="ctr"/>
          <a:lstStyle/>
          <a:p>
            <a:pPr algn="ctr" defTabSz="584199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2367727" name="Introduzione e Background"/>
          <p:cNvSpPr txBox="1"/>
          <p:nvPr/>
        </p:nvSpPr>
        <p:spPr bwMode="auto">
          <a:xfrm>
            <a:off x="557064" y="447433"/>
            <a:ext cx="11632458" cy="650597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Analisi dei risultati</a:t>
            </a:r>
            <a:r>
              <a:rPr lang="it-IT"/>
              <a:t> - Specifico</a:t>
            </a:r>
            <a:endParaRPr/>
          </a:p>
        </p:txBody>
      </p:sp>
      <p:sp>
        <p:nvSpPr>
          <p:cNvPr id="481348390" name="Titolo Tesi…"/>
          <p:cNvSpPr txBox="1"/>
          <p:nvPr/>
        </p:nvSpPr>
        <p:spPr bwMode="auto">
          <a:xfrm>
            <a:off x="7725132" y="8554450"/>
            <a:ext cx="4757335" cy="1089511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/>
          <a:p>
            <a:pPr algn="r"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/>
              <a:t>Analisi del comportamento dei LLM</a:t>
            </a:r>
            <a:r>
              <a:rPr/>
              <a:t> </a:t>
            </a:r>
            <a:endParaRPr/>
          </a:p>
          <a:p>
            <a:pPr algn="r"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/>
              <a:t>Aniello Tremulo</a:t>
            </a:r>
            <a:br>
              <a:rPr/>
            </a:br>
            <a:r>
              <a:rPr/>
              <a:t>Università degli Studi di Salerno</a:t>
            </a:r>
            <a:endParaRPr/>
          </a:p>
        </p:txBody>
      </p:sp>
      <p:sp>
        <p:nvSpPr>
          <p:cNvPr id="1118568338" name="email@studenti.unisa.it…"/>
          <p:cNvSpPr txBox="1"/>
          <p:nvPr/>
        </p:nvSpPr>
        <p:spPr bwMode="auto">
          <a:xfrm flipH="0" flipV="0">
            <a:off x="983155" y="8577329"/>
            <a:ext cx="3172828" cy="431141"/>
          </a:xfrm>
          <a:prstGeom prst="rect">
            <a:avLst/>
          </a:prstGeom>
          <a:ln w="12700">
            <a:miter lim="400000"/>
          </a:ln>
        </p:spPr>
        <p:txBody>
          <a:bodyPr wrap="square" lIns="50799" tIns="50799" rIns="50799" bIns="50799" anchor="ctr">
            <a:spAutoFit/>
          </a:bodyPr>
          <a:lstStyle/>
          <a:p>
            <a:pPr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 lang="it-IT"/>
              <a:t>a.tremulo@studenti.unisa.it</a:t>
            </a:r>
            <a:endParaRPr/>
          </a:p>
        </p:txBody>
      </p:sp>
      <p:pic>
        <p:nvPicPr>
          <p:cNvPr id="1446435048" name="email.png" descr="emai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1851" y="8613977"/>
            <a:ext cx="254000" cy="254000"/>
          </a:xfrm>
          <a:prstGeom prst="rect">
            <a:avLst/>
          </a:prstGeom>
          <a:ln w="12700">
            <a:miter lim="400000"/>
          </a:ln>
        </p:spPr>
      </p:pic>
      <p:sp>
        <p:nvSpPr>
          <p:cNvPr id="685806412" name="Linea"/>
          <p:cNvSpPr/>
          <p:nvPr/>
        </p:nvSpPr>
        <p:spPr bwMode="auto">
          <a:xfrm flipV="1">
            <a:off x="616451" y="2265631"/>
            <a:ext cx="0" cy="5131440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1267815727" name="Linea"/>
          <p:cNvSpPr/>
          <p:nvPr/>
        </p:nvSpPr>
        <p:spPr bwMode="auto">
          <a:xfrm flipV="1">
            <a:off x="12403620" y="2265631"/>
            <a:ext cx="0" cy="5131440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pic>
        <p:nvPicPr>
          <p:cNvPr id="1765593706" name="image2.png" descr="image2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250845" y="149168"/>
            <a:ext cx="2208780" cy="1063531"/>
          </a:xfrm>
          <a:prstGeom prst="rect">
            <a:avLst/>
          </a:prstGeom>
          <a:ln w="12700">
            <a:miter lim="400000"/>
          </a:ln>
        </p:spPr>
      </p:pic>
      <p:sp>
        <p:nvSpPr>
          <p:cNvPr id="1196271142" name=""/>
          <p:cNvSpPr txBox="1"/>
          <p:nvPr/>
        </p:nvSpPr>
        <p:spPr bwMode="auto">
          <a:xfrm rot="0" flipH="0" flipV="0">
            <a:off x="10718062" y="5524499"/>
            <a:ext cx="238844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62586720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324901" y="2454863"/>
            <a:ext cx="2276474" cy="2276474"/>
          </a:xfrm>
          <a:prstGeom prst="rect">
            <a:avLst/>
          </a:prstGeom>
        </p:spPr>
      </p:pic>
      <p:pic>
        <p:nvPicPr>
          <p:cNvPr id="667514671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7866360" y="2454863"/>
            <a:ext cx="3441250" cy="1935702"/>
          </a:xfrm>
          <a:prstGeom prst="rect">
            <a:avLst/>
          </a:prstGeom>
        </p:spPr>
      </p:pic>
      <p:sp>
        <p:nvSpPr>
          <p:cNvPr id="1553680177" name=""/>
          <p:cNvSpPr txBox="1"/>
          <p:nvPr/>
        </p:nvSpPr>
        <p:spPr bwMode="auto">
          <a:xfrm rot="0" flipH="0" flipV="0">
            <a:off x="9146437" y="2952749"/>
            <a:ext cx="47623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980511705" name=""/>
          <p:cNvSpPr txBox="1"/>
          <p:nvPr/>
        </p:nvSpPr>
        <p:spPr bwMode="auto">
          <a:xfrm rot="0" flipH="0" flipV="0">
            <a:off x="7913983" y="1690686"/>
            <a:ext cx="3746481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Sensibilità emotiva </a:t>
            </a:r>
            <a:endParaRPr/>
          </a:p>
        </p:txBody>
      </p:sp>
      <p:sp>
        <p:nvSpPr>
          <p:cNvPr id="1007924393" name=""/>
          <p:cNvSpPr txBox="1"/>
          <p:nvPr/>
        </p:nvSpPr>
        <p:spPr bwMode="auto">
          <a:xfrm rot="0" flipH="0" flipV="0">
            <a:off x="1145437" y="1619249"/>
            <a:ext cx="3604327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Sensibilità sintattica</a:t>
            </a:r>
            <a:endParaRPr/>
          </a:p>
        </p:txBody>
      </p:sp>
      <p:sp>
        <p:nvSpPr>
          <p:cNvPr id="1757177056" name=""/>
          <p:cNvSpPr txBox="1"/>
          <p:nvPr/>
        </p:nvSpPr>
        <p:spPr bwMode="auto">
          <a:xfrm rot="0" flipH="0" flipV="0">
            <a:off x="1383561" y="4976811"/>
            <a:ext cx="3699576" cy="2972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Molto</a:t>
            </a:r>
            <a:r>
              <a:rPr/>
              <a:t> più sensibile alle perturbazioni sintattiche</a:t>
            </a:r>
            <a:r>
              <a:rPr lang="en-US" sz="30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  <a:r>
              <a:rPr lang="it-IT" sz="30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 via dei </a:t>
            </a:r>
            <a:r>
              <a:rPr lang="en-US" sz="30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filtri di sicurezza eccessivamente restrittivi verso il tono dell'utente</a:t>
            </a:r>
            <a:endParaRPr/>
          </a:p>
        </p:txBody>
      </p:sp>
      <p:sp>
        <p:nvSpPr>
          <p:cNvPr id="1294709218" name=""/>
          <p:cNvSpPr txBox="1"/>
          <p:nvPr/>
        </p:nvSpPr>
        <p:spPr bwMode="auto">
          <a:xfrm rot="0" flipH="0" flipV="0">
            <a:off x="7979623" y="4976811"/>
            <a:ext cx="3444840" cy="25606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I</a:t>
            </a:r>
            <a:r>
              <a:rPr/>
              <a:t>nterpreta la pressione emotiva come un pericolo</a:t>
            </a:r>
            <a:r>
              <a:rPr lang="it-IT" sz="30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  <a:r>
              <a:rPr lang="en-US" sz="30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che compromette la comprensione del task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75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bg>
      <p:bgPr shadeToTitle="0">
        <a:solidFill>
          <a:srgbClr val="FFFF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861312" name="Rettangolo"/>
          <p:cNvSpPr/>
          <p:nvPr/>
        </p:nvSpPr>
        <p:spPr bwMode="auto">
          <a:xfrm>
            <a:off x="-6927" y="8400103"/>
            <a:ext cx="13018655" cy="1358092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799" tIns="50799" rIns="50799" bIns="50799" anchor="ctr"/>
          <a:lstStyle/>
          <a:p>
            <a:pPr algn="ctr" defTabSz="584199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988149853" name="Rettangolo"/>
          <p:cNvSpPr/>
          <p:nvPr/>
        </p:nvSpPr>
        <p:spPr bwMode="auto">
          <a:xfrm>
            <a:off x="-6927" y="1890"/>
            <a:ext cx="13018655" cy="1358089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799" tIns="50799" rIns="50799" bIns="50799" anchor="ctr"/>
          <a:lstStyle/>
          <a:p>
            <a:pPr algn="ctr" defTabSz="584199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085355811" name="Introduzione e Background"/>
          <p:cNvSpPr txBox="1"/>
          <p:nvPr/>
        </p:nvSpPr>
        <p:spPr bwMode="auto">
          <a:xfrm>
            <a:off x="557064" y="454633"/>
            <a:ext cx="11639659" cy="650599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Conclusioni e prospettive future</a:t>
            </a:r>
            <a:endParaRPr/>
          </a:p>
        </p:txBody>
      </p:sp>
      <p:sp>
        <p:nvSpPr>
          <p:cNvPr id="1521823149" name="Titolo Tesi…"/>
          <p:cNvSpPr txBox="1"/>
          <p:nvPr/>
        </p:nvSpPr>
        <p:spPr bwMode="auto">
          <a:xfrm>
            <a:off x="7725132" y="8554450"/>
            <a:ext cx="4757335" cy="1089511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/>
          <a:p>
            <a:pPr algn="r"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/>
              <a:t>Analisi del comportamento dei LLM</a:t>
            </a:r>
            <a:r>
              <a:rPr/>
              <a:t> </a:t>
            </a:r>
            <a:endParaRPr/>
          </a:p>
          <a:p>
            <a:pPr algn="r"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/>
              <a:t>Aniello Tremulo</a:t>
            </a:r>
            <a:br>
              <a:rPr/>
            </a:br>
            <a:r>
              <a:rPr/>
              <a:t>Università degli Studi di Salerno</a:t>
            </a:r>
            <a:endParaRPr/>
          </a:p>
        </p:txBody>
      </p:sp>
      <p:sp>
        <p:nvSpPr>
          <p:cNvPr id="1462275732" name="email@studenti.unisa.it…"/>
          <p:cNvSpPr txBox="1"/>
          <p:nvPr/>
        </p:nvSpPr>
        <p:spPr bwMode="auto">
          <a:xfrm flipH="0" flipV="0">
            <a:off x="983155" y="8577329"/>
            <a:ext cx="3172828" cy="431141"/>
          </a:xfrm>
          <a:prstGeom prst="rect">
            <a:avLst/>
          </a:prstGeom>
          <a:ln w="12700">
            <a:miter lim="400000"/>
          </a:ln>
        </p:spPr>
        <p:txBody>
          <a:bodyPr wrap="square" lIns="50799" tIns="50799" rIns="50799" bIns="50799" anchor="ctr">
            <a:spAutoFit/>
          </a:bodyPr>
          <a:lstStyle/>
          <a:p>
            <a:pPr defTabSz="587021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 lang="it-IT"/>
              <a:t>a.tremulo@studenti.unisa.it</a:t>
            </a:r>
            <a:endParaRPr/>
          </a:p>
        </p:txBody>
      </p:sp>
      <p:pic>
        <p:nvPicPr>
          <p:cNvPr id="66060426" name="email.png" descr="emai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1851" y="8613977"/>
            <a:ext cx="254000" cy="254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100217" name="Linea"/>
          <p:cNvSpPr/>
          <p:nvPr/>
        </p:nvSpPr>
        <p:spPr bwMode="auto">
          <a:xfrm flipV="1">
            <a:off x="616451" y="2265631"/>
            <a:ext cx="0" cy="5131440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57899351" name="Linea"/>
          <p:cNvSpPr/>
          <p:nvPr/>
        </p:nvSpPr>
        <p:spPr bwMode="auto">
          <a:xfrm flipV="1">
            <a:off x="12403620" y="2265631"/>
            <a:ext cx="0" cy="5131440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pic>
        <p:nvPicPr>
          <p:cNvPr id="1056466077" name="image2.png" descr="image2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250845" y="149168"/>
            <a:ext cx="2208780" cy="1063531"/>
          </a:xfrm>
          <a:prstGeom prst="rect">
            <a:avLst/>
          </a:prstGeom>
          <a:ln w="12700">
            <a:miter lim="400000"/>
          </a:ln>
        </p:spPr>
      </p:pic>
      <p:sp>
        <p:nvSpPr>
          <p:cNvPr id="2127688970" name=""/>
          <p:cNvSpPr txBox="1"/>
          <p:nvPr/>
        </p:nvSpPr>
        <p:spPr bwMode="auto">
          <a:xfrm rot="0" flipH="0" flipV="0">
            <a:off x="10718062" y="5524499"/>
            <a:ext cx="238844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59645007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983156" y="2265631"/>
            <a:ext cx="1115742" cy="1115742"/>
          </a:xfrm>
          <a:prstGeom prst="rect">
            <a:avLst/>
          </a:prstGeom>
        </p:spPr>
      </p:pic>
      <p:sp>
        <p:nvSpPr>
          <p:cNvPr id="1141903661" name=""/>
          <p:cNvSpPr txBox="1"/>
          <p:nvPr/>
        </p:nvSpPr>
        <p:spPr bwMode="auto">
          <a:xfrm rot="0" flipH="0" flipV="0">
            <a:off x="2312249" y="2466614"/>
            <a:ext cx="3359002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0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Limiti dei Filtri Statici</a:t>
            </a:r>
            <a:r>
              <a:rPr lang="it-IT" b="1"/>
              <a:t>:</a:t>
            </a:r>
            <a:endParaRPr b="0"/>
          </a:p>
        </p:txBody>
      </p:sp>
      <p:sp>
        <p:nvSpPr>
          <p:cNvPr id="1735957086" name=""/>
          <p:cNvSpPr txBox="1"/>
          <p:nvPr/>
        </p:nvSpPr>
        <p:spPr bwMode="auto">
          <a:xfrm rot="0" flipH="0" flipV="0">
            <a:off x="5384062" y="2466614"/>
            <a:ext cx="6813381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0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Vulnerabilità a semplici perturbazioni sintattiche e semantiche</a:t>
            </a:r>
            <a:endParaRPr/>
          </a:p>
        </p:txBody>
      </p:sp>
      <p:pic>
        <p:nvPicPr>
          <p:cNvPr id="483890192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983156" y="4033837"/>
            <a:ext cx="1162083" cy="1162083"/>
          </a:xfrm>
          <a:prstGeom prst="rect">
            <a:avLst/>
          </a:prstGeom>
        </p:spPr>
      </p:pic>
      <p:sp>
        <p:nvSpPr>
          <p:cNvPr id="1095757216" name=""/>
          <p:cNvSpPr txBox="1"/>
          <p:nvPr/>
        </p:nvSpPr>
        <p:spPr bwMode="auto">
          <a:xfrm rot="0" flipH="0" flipV="0">
            <a:off x="2359874" y="4033837"/>
            <a:ext cx="2646067" cy="13262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0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Il Paradosso della Sicurezza</a:t>
            </a:r>
            <a:r>
              <a:rPr b="1"/>
              <a:t>e:</a:t>
            </a:r>
            <a:endParaRPr b="1"/>
          </a:p>
        </p:txBody>
      </p:sp>
      <p:sp>
        <p:nvSpPr>
          <p:cNvPr id="786012014" name=""/>
          <p:cNvSpPr txBox="1"/>
          <p:nvPr/>
        </p:nvSpPr>
        <p:spPr bwMode="auto">
          <a:xfrm rot="0" flipH="0" flipV="0">
            <a:off x="5407874" y="4071937"/>
            <a:ext cx="6789568" cy="13262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0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Filtri troppo restrittivi compromettone l'utilità del modello anche su richieste legittime</a:t>
            </a:r>
            <a:endParaRPr/>
          </a:p>
        </p:txBody>
      </p:sp>
      <p:pic>
        <p:nvPicPr>
          <p:cNvPr id="718490177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929992" y="5776139"/>
            <a:ext cx="1268411" cy="1268411"/>
          </a:xfrm>
          <a:prstGeom prst="rect">
            <a:avLst/>
          </a:prstGeom>
        </p:spPr>
      </p:pic>
      <p:sp>
        <p:nvSpPr>
          <p:cNvPr id="1796604931" name=""/>
          <p:cNvSpPr txBox="1"/>
          <p:nvPr/>
        </p:nvSpPr>
        <p:spPr bwMode="auto">
          <a:xfrm rot="0" flipH="0" flipV="0">
            <a:off x="2407499" y="5929312"/>
            <a:ext cx="2882031" cy="13262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30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Proposta</a:t>
            </a:r>
            <a:r>
              <a:rPr lang="en-US" sz="30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Filtri Adattivi e Contestuali</a:t>
            </a:r>
            <a:r>
              <a:rPr lang="it-IT" b="1"/>
              <a:t>:</a:t>
            </a:r>
            <a:endParaRPr b="1"/>
          </a:p>
        </p:txBody>
      </p:sp>
      <p:sp>
        <p:nvSpPr>
          <p:cNvPr id="300687534" name=""/>
          <p:cNvSpPr txBox="1"/>
          <p:nvPr/>
        </p:nvSpPr>
        <p:spPr bwMode="auto">
          <a:xfrm rot="0" flipH="0" flipV="0">
            <a:off x="5503124" y="5776139"/>
            <a:ext cx="6215782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0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Necessità di sistemi capaci di comprendere il reale intento dell'utente, non solo la forma del prompt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75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bg>
      <p:bgPr shadeToTitle="0">
        <a:solidFill>
          <a:srgbClr val="2C2C2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11607" name="Rettangolo"/>
          <p:cNvSpPr/>
          <p:nvPr/>
        </p:nvSpPr>
        <p:spPr bwMode="auto">
          <a:xfrm>
            <a:off x="8242274" y="-5659"/>
            <a:ext cx="4767544" cy="9764917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2F2F2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393391500" name="Titolo tesi"/>
          <p:cNvSpPr txBox="1"/>
          <p:nvPr/>
        </p:nvSpPr>
        <p:spPr bwMode="auto">
          <a:xfrm flipH="0" flipV="0">
            <a:off x="8506312" y="924137"/>
            <a:ext cx="4397590" cy="1930759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b="1" spc="-59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Analisi del comportamento dei LLM: Framework per testare la robustezza e allineamento</a:t>
            </a:r>
            <a:endParaRPr lang="it-IT"/>
          </a:p>
        </p:txBody>
      </p:sp>
      <p:sp>
        <p:nvSpPr>
          <p:cNvPr id="956469344" name="email@studenti.unisa.it…"/>
          <p:cNvSpPr txBox="1"/>
          <p:nvPr/>
        </p:nvSpPr>
        <p:spPr bwMode="auto">
          <a:xfrm>
            <a:off x="9264610" y="8072867"/>
            <a:ext cx="3106797" cy="108951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 lang="it-IT" u="sng">
                <a:hlinkClick r:id="rId3" tooltip=""/>
              </a:rPr>
              <a:t>a.tremulo@studenti.unisa.it</a:t>
            </a:r>
            <a:endParaRPr/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endParaRPr/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endParaRPr/>
          </a:p>
        </p:txBody>
      </p:sp>
      <p:pic>
        <p:nvPicPr>
          <p:cNvPr id="1538409445" name="email.png" descr="email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490007" y="8153452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707360896" name="Nome Cognome"/>
          <p:cNvSpPr txBox="1"/>
          <p:nvPr/>
        </p:nvSpPr>
        <p:spPr bwMode="auto">
          <a:xfrm>
            <a:off x="9262317" y="7417381"/>
            <a:ext cx="3563274" cy="46771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b="1" spc="-59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Aniello</a:t>
            </a:r>
            <a:r>
              <a:rPr/>
              <a:t> </a:t>
            </a:r>
            <a:r>
              <a:rPr lang="it-IT"/>
              <a:t>Tremulo</a:t>
            </a:r>
            <a:endParaRPr/>
          </a:p>
        </p:txBody>
      </p:sp>
      <p:pic>
        <p:nvPicPr>
          <p:cNvPr id="134506494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90887" y="1017064"/>
            <a:ext cx="3553861" cy="2646140"/>
          </a:xfrm>
          <a:prstGeom prst="rect">
            <a:avLst/>
          </a:prstGeom>
        </p:spPr>
      </p:pic>
      <p:pic>
        <p:nvPicPr>
          <p:cNvPr id="181304183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248659" y="1017064"/>
            <a:ext cx="3498505" cy="2642078"/>
          </a:xfrm>
          <a:prstGeom prst="rect">
            <a:avLst/>
          </a:prstGeom>
        </p:spPr>
      </p:pic>
      <p:pic>
        <p:nvPicPr>
          <p:cNvPr id="1787151841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318546" y="5201217"/>
            <a:ext cx="3553861" cy="2683882"/>
          </a:xfrm>
          <a:prstGeom prst="rect">
            <a:avLst/>
          </a:prstGeom>
        </p:spPr>
      </p:pic>
      <p:pic>
        <p:nvPicPr>
          <p:cNvPr id="418622978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4308944" y="5201217"/>
            <a:ext cx="3553861" cy="2683882"/>
          </a:xfrm>
          <a:prstGeom prst="rect">
            <a:avLst/>
          </a:prstGeom>
        </p:spPr>
      </p:pic>
      <p:sp>
        <p:nvSpPr>
          <p:cNvPr id="1812869749" name="Titolo tesi"/>
          <p:cNvSpPr txBox="1"/>
          <p:nvPr/>
        </p:nvSpPr>
        <p:spPr bwMode="auto">
          <a:xfrm flipH="0" flipV="0">
            <a:off x="7802521" y="4219607"/>
            <a:ext cx="4438989" cy="467719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b="1" spc="-57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GRAZIE!</a:t>
            </a:r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75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</a:spPr>
      <a:bodyPr/>
      <a:lstStyle/>
      <a:style>
        <a:lnRef idx="0"/>
        <a:fillRef idx="0"/>
        <a:effectRef idx="0"/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round/>
        </a:ln>
        <a:effectLst/>
      </a:spPr>
      <a:bodyPr/>
      <a:lstStyle/>
      <a:style>
        <a:lnRef idx="0"/>
        <a:fillRef idx="0"/>
        <a:effectRef idx="0"/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  <a:effectLst/>
      </a:spPr>
      <a:bodyPr/>
      <a:lstStyle/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</a:spPr>
      <a:bodyPr/>
      <a:lstStyle/>
      <a:style>
        <a:lnRef idx="0"/>
        <a:fillRef idx="0"/>
        <a:effectRef idx="0"/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round/>
        </a:ln>
        <a:effectLst/>
      </a:spPr>
      <a:bodyPr/>
      <a:lstStyle/>
      <a:style>
        <a:lnRef idx="0"/>
        <a:fillRef idx="0"/>
        <a:effectRef idx="0"/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  <a:effectLst/>
      </a:spPr>
      <a:bodyPr/>
      <a:lstStyle/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</cp:revision>
  <dcterms:modified xsi:type="dcterms:W3CDTF">2026-03-25T21:37:24Z</dcterms:modified>
</cp:coreProperties>
</file>